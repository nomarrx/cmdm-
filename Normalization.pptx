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52"/>
  </p:notesMasterIdLst>
  <p:sldIdLst>
    <p:sldId id="256" r:id="rId2"/>
    <p:sldId id="322" r:id="rId3"/>
    <p:sldId id="307" r:id="rId4"/>
    <p:sldId id="260" r:id="rId5"/>
    <p:sldId id="269" r:id="rId6"/>
    <p:sldId id="270" r:id="rId7"/>
    <p:sldId id="271" r:id="rId8"/>
    <p:sldId id="261" r:id="rId9"/>
    <p:sldId id="262" r:id="rId10"/>
    <p:sldId id="273" r:id="rId11"/>
    <p:sldId id="264" r:id="rId12"/>
    <p:sldId id="265" r:id="rId13"/>
    <p:sldId id="266" r:id="rId14"/>
    <p:sldId id="274" r:id="rId15"/>
    <p:sldId id="275" r:id="rId16"/>
    <p:sldId id="276" r:id="rId17"/>
    <p:sldId id="267" r:id="rId18"/>
    <p:sldId id="309" r:id="rId19"/>
    <p:sldId id="278" r:id="rId20"/>
    <p:sldId id="268" r:id="rId21"/>
    <p:sldId id="310" r:id="rId22"/>
    <p:sldId id="282" r:id="rId23"/>
    <p:sldId id="280" r:id="rId24"/>
    <p:sldId id="281" r:id="rId25"/>
    <p:sldId id="283" r:id="rId26"/>
    <p:sldId id="284" r:id="rId27"/>
    <p:sldId id="312" r:id="rId28"/>
    <p:sldId id="285" r:id="rId29"/>
    <p:sldId id="313" r:id="rId30"/>
    <p:sldId id="286" r:id="rId31"/>
    <p:sldId id="287" r:id="rId32"/>
    <p:sldId id="288" r:id="rId33"/>
    <p:sldId id="314" r:id="rId34"/>
    <p:sldId id="289" r:id="rId35"/>
    <p:sldId id="290" r:id="rId36"/>
    <p:sldId id="291" r:id="rId37"/>
    <p:sldId id="294" r:id="rId38"/>
    <p:sldId id="295" r:id="rId39"/>
    <p:sldId id="319" r:id="rId40"/>
    <p:sldId id="320" r:id="rId41"/>
    <p:sldId id="321" r:id="rId42"/>
    <p:sldId id="299" r:id="rId43"/>
    <p:sldId id="300" r:id="rId44"/>
    <p:sldId id="301" r:id="rId45"/>
    <p:sldId id="302" r:id="rId46"/>
    <p:sldId id="303" r:id="rId47"/>
    <p:sldId id="304" r:id="rId48"/>
    <p:sldId id="305" r:id="rId49"/>
    <p:sldId id="306" r:id="rId50"/>
    <p:sldId id="318" r:id="rId5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28" autoAdjust="0"/>
    <p:restoredTop sz="94660"/>
  </p:normalViewPr>
  <p:slideViewPr>
    <p:cSldViewPr>
      <p:cViewPr varScale="1">
        <p:scale>
          <a:sx n="59" d="100"/>
          <a:sy n="59" d="100"/>
        </p:scale>
        <p:origin x="180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dirty="0"/>
          </a:p>
        </p:txBody>
      </p:sp>
      <p:sp>
        <p:nvSpPr>
          <p:cNvPr id="204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dirty="0"/>
          </a:p>
        </p:txBody>
      </p:sp>
      <p:sp>
        <p:nvSpPr>
          <p:cNvPr id="204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04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4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dirty="0"/>
          </a:p>
        </p:txBody>
      </p:sp>
      <p:sp>
        <p:nvSpPr>
          <p:cNvPr id="204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5AEA042-60D4-428C-9ABB-8D08AE3A2B8E}" type="slidenum">
              <a:rPr lang="en-US"/>
              <a:pPr/>
              <a:t>‹#›</a:t>
            </a:fld>
            <a:endParaRPr lang="en-US" dirty="0"/>
          </a:p>
        </p:txBody>
      </p:sp>
    </p:spTree>
    <p:extLst>
      <p:ext uri="{BB962C8B-B14F-4D97-AF65-F5344CB8AC3E}">
        <p14:creationId xmlns:p14="http://schemas.microsoft.com/office/powerpoint/2010/main" val="58237021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515FA9B0-D4D2-4BA8-9F5C-3BF69E82912C}"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55817BA-32BD-442C-96BA-2469E6603B0D}"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3D5BDC-CE3C-440D-853C-D0C3578B2904}"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03DEFE-D06A-4636-B6A0-58E2C53C917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B7D241B-5400-4EB4-BCBE-5898E3458B56}"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8E64324-7FE9-4EBF-8DC0-B534F728E28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F461D06-3300-44FE-B299-1E5DF39612FE}"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DD7A2A4-8029-4816-A687-6CC338CBFEB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24E0D717-7EA0-42CB-B907-426C55C8DC65}"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5B45EB2-7CD1-4AAC-994E-F613ADB3B01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39473F2-EF29-4140-A75A-98A36547438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Table Placeholder 2"/>
          <p:cNvSpPr>
            <a:spLocks noGrp="1"/>
          </p:cNvSpPr>
          <p:nvPr>
            <p:ph type="tbl" idx="1"/>
          </p:nvPr>
        </p:nvSpPr>
        <p:spPr>
          <a:xfrm>
            <a:off x="457200" y="1600200"/>
            <a:ext cx="8229600" cy="4525963"/>
          </a:xfrm>
        </p:spPr>
        <p:txBody>
          <a:bodyPr/>
          <a:lstStyle/>
          <a:p>
            <a:endParaRPr lang="en-CA" dirty="0"/>
          </a:p>
        </p:txBody>
      </p:sp>
      <p:sp>
        <p:nvSpPr>
          <p:cNvPr id="4" name="Date Placeholder 3"/>
          <p:cNvSpPr>
            <a:spLocks noGrp="1"/>
          </p:cNvSpPr>
          <p:nvPr>
            <p:ph type="dt" sz="half" idx="10"/>
          </p:nvPr>
        </p:nvSpPr>
        <p:spPr>
          <a:xfrm>
            <a:off x="457200" y="6245225"/>
            <a:ext cx="2133600" cy="476250"/>
          </a:xfrm>
        </p:spPr>
        <p:txBody>
          <a:bodyPr/>
          <a:lstStyle>
            <a:lvl1pPr>
              <a:defRPr/>
            </a:lvl1pPr>
          </a:lstStyle>
          <a:p>
            <a:endParaRPr lang="en-US" dirty="0"/>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endParaRPr lang="en-US" dirty="0"/>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B6A5D93C-C76D-45E7-A635-4832689078BB}" type="slidenum">
              <a:rPr lang="en-US"/>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637A442-4CA3-45C4-B3AB-D0E28CA403DF}"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533400" y="1097382"/>
            <a:ext cx="7851648" cy="1828800"/>
          </a:xfrm>
        </p:spPr>
        <p:txBody>
          <a:bodyPr/>
          <a:lstStyle/>
          <a:p>
            <a:r>
              <a:rPr lang="en-US" dirty="0"/>
              <a:t>CDBM 280</a:t>
            </a:r>
          </a:p>
        </p:txBody>
      </p:sp>
      <p:sp>
        <p:nvSpPr>
          <p:cNvPr id="2051" name="Rectangle 3"/>
          <p:cNvSpPr>
            <a:spLocks noGrp="1" noChangeArrowheads="1"/>
          </p:cNvSpPr>
          <p:nvPr>
            <p:ph type="subTitle" idx="1"/>
          </p:nvPr>
        </p:nvSpPr>
        <p:spPr>
          <a:xfrm>
            <a:off x="521021" y="2866305"/>
            <a:ext cx="7854696" cy="1752600"/>
          </a:xfrm>
        </p:spPr>
        <p:txBody>
          <a:bodyPr/>
          <a:lstStyle/>
          <a:p>
            <a:r>
              <a:rPr lang="en-US" dirty="0"/>
              <a:t>Normalization</a:t>
            </a:r>
          </a:p>
        </p:txBody>
      </p:sp>
      <p:sp>
        <p:nvSpPr>
          <p:cNvPr id="6" name="Slide Number Placeholder 5"/>
          <p:cNvSpPr>
            <a:spLocks noGrp="1"/>
          </p:cNvSpPr>
          <p:nvPr>
            <p:ph type="sldNum" sz="quarter" idx="12"/>
          </p:nvPr>
        </p:nvSpPr>
        <p:spPr/>
        <p:txBody>
          <a:bodyPr/>
          <a:lstStyle/>
          <a:p>
            <a:fld id="{E103A468-1B9A-484C-917A-C8D36911E484}" type="slidenum">
              <a:rPr lang="en-US"/>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2F0C2-BE56-C294-49B2-116DE489D878}"/>
              </a:ext>
            </a:extLst>
          </p:cNvPr>
          <p:cNvSpPr>
            <a:spLocks noGrp="1"/>
          </p:cNvSpPr>
          <p:nvPr>
            <p:ph type="title"/>
          </p:nvPr>
        </p:nvSpPr>
        <p:spPr/>
        <p:txBody>
          <a:bodyPr/>
          <a:lstStyle/>
          <a:p>
            <a:r>
              <a:rPr lang="en-IN" dirty="0"/>
              <a:t>Normalization</a:t>
            </a:r>
          </a:p>
        </p:txBody>
      </p:sp>
      <p:sp>
        <p:nvSpPr>
          <p:cNvPr id="3" name="Content Placeholder 2">
            <a:extLst>
              <a:ext uri="{FF2B5EF4-FFF2-40B4-BE49-F238E27FC236}">
                <a16:creationId xmlns:a16="http://schemas.microsoft.com/office/drawing/2014/main" id="{9ABCBBDC-24E3-B380-0E93-B6993FE16692}"/>
              </a:ext>
            </a:extLst>
          </p:cNvPr>
          <p:cNvSpPr>
            <a:spLocks noGrp="1"/>
          </p:cNvSpPr>
          <p:nvPr>
            <p:ph idx="1"/>
          </p:nvPr>
        </p:nvSpPr>
        <p:spPr/>
        <p:txBody>
          <a:bodyPr>
            <a:normAutofit lnSpcReduction="10000"/>
          </a:bodyPr>
          <a:lstStyle/>
          <a:p>
            <a:pPr algn="l" rtl="0"/>
            <a:r>
              <a:rPr lang="en-US" dirty="0">
                <a:effectLst/>
                <a:latin typeface="Constantia" panose="02030602050306030303" pitchFamily="18" charset="0"/>
              </a:rPr>
              <a:t>Normalization is basically the process of efficiently organizing data in a database.</a:t>
            </a:r>
          </a:p>
          <a:p>
            <a:pPr algn="l" rtl="0"/>
            <a:r>
              <a:rPr lang="en-US" dirty="0">
                <a:effectLst/>
                <a:latin typeface="Constantia" panose="02030602050306030303" pitchFamily="18" charset="0"/>
              </a:rPr>
              <a:t>They are a series of guidelines for ensuring that databases are</a:t>
            </a:r>
            <a:r>
              <a:rPr lang="en-US" dirty="0">
                <a:latin typeface="Constantia" panose="02030602050306030303" pitchFamily="18" charset="0"/>
              </a:rPr>
              <a:t> </a:t>
            </a:r>
            <a:r>
              <a:rPr lang="en-US" dirty="0">
                <a:effectLst/>
                <a:latin typeface="Constantia" panose="02030602050306030303" pitchFamily="18" charset="0"/>
              </a:rPr>
              <a:t>normalized. These are referred to as normal forms</a:t>
            </a:r>
            <a:endParaRPr lang="en-US" dirty="0">
              <a:latin typeface="Constantia" panose="02030602050306030303" pitchFamily="18" charset="0"/>
            </a:endParaRPr>
          </a:p>
          <a:p>
            <a:pPr algn="l" rtl="0"/>
            <a:r>
              <a:rPr lang="en-US" dirty="0">
                <a:effectLst/>
                <a:latin typeface="Constantia" panose="02030602050306030303" pitchFamily="18" charset="0"/>
              </a:rPr>
              <a:t>There are 5 normal forms numbered from one (the lowest form of normalization, referred to as the first normal form or 1NF)</a:t>
            </a:r>
            <a:br>
              <a:rPr lang="en-US" dirty="0">
                <a:effectLst/>
                <a:latin typeface="Constantia" panose="02030602050306030303" pitchFamily="18" charset="0"/>
              </a:rPr>
            </a:br>
            <a:r>
              <a:rPr lang="en-US" dirty="0">
                <a:effectLst/>
                <a:latin typeface="Constantia" panose="02030602050306030303" pitchFamily="18" charset="0"/>
              </a:rPr>
              <a:t>through five (fifth normal form or 5NF).</a:t>
            </a:r>
          </a:p>
          <a:p>
            <a:pPr marL="0" indent="0">
              <a:buNone/>
            </a:pPr>
            <a:br>
              <a:rPr lang="en-US" b="0" i="0" dirty="0">
                <a:solidFill>
                  <a:srgbClr val="000000"/>
                </a:solidFill>
                <a:effectLst/>
                <a:latin typeface="Constantia" panose="02030602050306030303" pitchFamily="18" charset="0"/>
              </a:rPr>
            </a:br>
            <a:endParaRPr lang="en-IN" dirty="0">
              <a:latin typeface="Constantia" panose="02030602050306030303" pitchFamily="18" charset="0"/>
            </a:endParaRPr>
          </a:p>
        </p:txBody>
      </p:sp>
      <p:sp>
        <p:nvSpPr>
          <p:cNvPr id="4" name="Slide Number Placeholder 3">
            <a:extLst>
              <a:ext uri="{FF2B5EF4-FFF2-40B4-BE49-F238E27FC236}">
                <a16:creationId xmlns:a16="http://schemas.microsoft.com/office/drawing/2014/main" id="{23C26ECF-ECC2-A10C-2642-CDA54573B5D7}"/>
              </a:ext>
            </a:extLst>
          </p:cNvPr>
          <p:cNvSpPr>
            <a:spLocks noGrp="1"/>
          </p:cNvSpPr>
          <p:nvPr>
            <p:ph type="sldNum" sz="quarter" idx="12"/>
          </p:nvPr>
        </p:nvSpPr>
        <p:spPr/>
        <p:txBody>
          <a:bodyPr/>
          <a:lstStyle/>
          <a:p>
            <a:fld id="{555817BA-32BD-442C-96BA-2469E6603B0D}" type="slidenum">
              <a:rPr lang="en-US" smtClean="0"/>
              <a:pPr/>
              <a:t>2</a:t>
            </a:fld>
            <a:endParaRPr lang="en-US" dirty="0"/>
          </a:p>
        </p:txBody>
      </p:sp>
    </p:spTree>
    <p:extLst>
      <p:ext uri="{BB962C8B-B14F-4D97-AF65-F5344CB8AC3E}">
        <p14:creationId xmlns:p14="http://schemas.microsoft.com/office/powerpoint/2010/main" val="1346099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77FF572-8EAC-4FCE-A3E1-F34CB3FB3204}" type="slidenum">
              <a:rPr lang="en-US"/>
              <a:pPr/>
              <a:t>3</a:t>
            </a:fld>
            <a:endParaRPr lang="en-US" dirty="0"/>
          </a:p>
        </p:txBody>
      </p:sp>
      <p:sp>
        <p:nvSpPr>
          <p:cNvPr id="20482" name="Rectangle 2"/>
          <p:cNvSpPr>
            <a:spLocks noGrp="1" noChangeArrowheads="1"/>
          </p:cNvSpPr>
          <p:nvPr>
            <p:ph type="title"/>
          </p:nvPr>
        </p:nvSpPr>
        <p:spPr/>
        <p:txBody>
          <a:bodyPr/>
          <a:lstStyle/>
          <a:p>
            <a:r>
              <a:rPr lang="en-US" dirty="0"/>
              <a:t>Characteristics of a relation</a:t>
            </a:r>
          </a:p>
        </p:txBody>
      </p:sp>
      <p:sp>
        <p:nvSpPr>
          <p:cNvPr id="20483" name="Rectangle 3"/>
          <p:cNvSpPr>
            <a:spLocks noGrp="1" noChangeArrowheads="1"/>
          </p:cNvSpPr>
          <p:nvPr>
            <p:ph type="body" idx="1"/>
          </p:nvPr>
        </p:nvSpPr>
        <p:spPr/>
        <p:txBody>
          <a:bodyPr>
            <a:normAutofit lnSpcReduction="10000"/>
          </a:bodyPr>
          <a:lstStyle/>
          <a:p>
            <a:r>
              <a:rPr lang="en-US" dirty="0"/>
              <a:t>A relation is a two-dimensional table that has the characteristics listed below:</a:t>
            </a:r>
            <a:endParaRPr lang="en-CA" dirty="0"/>
          </a:p>
          <a:p>
            <a:pPr lvl="1"/>
            <a:r>
              <a:rPr lang="en-US" dirty="0"/>
              <a:t>rows contain data about an entity</a:t>
            </a:r>
          </a:p>
          <a:p>
            <a:pPr lvl="1"/>
            <a:r>
              <a:rPr lang="en-US" dirty="0"/>
              <a:t>columns contain data about attributes of the entity</a:t>
            </a:r>
          </a:p>
          <a:p>
            <a:pPr lvl="1"/>
            <a:r>
              <a:rPr lang="en-US" dirty="0"/>
              <a:t>cells of the table hold a single value</a:t>
            </a:r>
          </a:p>
          <a:p>
            <a:pPr lvl="1"/>
            <a:r>
              <a:rPr lang="en-US" dirty="0"/>
              <a:t>all entries in a column are of the same kind</a:t>
            </a:r>
          </a:p>
          <a:p>
            <a:pPr lvl="1"/>
            <a:r>
              <a:rPr lang="en-US" dirty="0"/>
              <a:t>each column has a unique name</a:t>
            </a:r>
          </a:p>
          <a:p>
            <a:pPr lvl="1"/>
            <a:r>
              <a:rPr lang="en-US" dirty="0"/>
              <a:t>the order of the columns is unimportant</a:t>
            </a:r>
          </a:p>
          <a:p>
            <a:pPr lvl="1"/>
            <a:r>
              <a:rPr lang="en-US" dirty="0"/>
              <a:t>the order of the rows is unimportant</a:t>
            </a:r>
          </a:p>
          <a:p>
            <a:pPr lvl="1"/>
            <a:r>
              <a:rPr lang="en-US" dirty="0"/>
              <a:t>no two rows may be identical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Terms</a:t>
            </a:r>
          </a:p>
        </p:txBody>
      </p:sp>
      <p:sp>
        <p:nvSpPr>
          <p:cNvPr id="7" name="Content Placeholder 6"/>
          <p:cNvSpPr>
            <a:spLocks noGrp="1"/>
          </p:cNvSpPr>
          <p:nvPr>
            <p:ph idx="1"/>
          </p:nvPr>
        </p:nvSpPr>
        <p:spPr/>
        <p:txBody>
          <a:bodyPr/>
          <a:lstStyle/>
          <a:p>
            <a:r>
              <a:rPr lang="en-US" dirty="0"/>
              <a:t>The terms table and relation are used interchangeably.</a:t>
            </a:r>
          </a:p>
          <a:p>
            <a:r>
              <a:rPr lang="en-US" dirty="0"/>
              <a:t>Three sets of equivalent terms:</a:t>
            </a:r>
            <a:endParaRPr lang="en-CA" dirty="0"/>
          </a:p>
        </p:txBody>
      </p:sp>
      <p:sp>
        <p:nvSpPr>
          <p:cNvPr id="6" name="Slide Number Placeholder 3"/>
          <p:cNvSpPr>
            <a:spLocks noGrp="1"/>
          </p:cNvSpPr>
          <p:nvPr>
            <p:ph type="sldNum" sz="quarter" idx="12"/>
          </p:nvPr>
        </p:nvSpPr>
        <p:spPr/>
        <p:txBody>
          <a:bodyPr/>
          <a:lstStyle/>
          <a:p>
            <a:fld id="{1CF7D735-59E0-4F4D-94FD-BD45E1EB3D52}" type="slidenum">
              <a:rPr lang="en-US"/>
              <a:pPr/>
              <a:t>4</a:t>
            </a:fld>
            <a:endParaRPr lang="en-US" dirty="0"/>
          </a:p>
        </p:txBody>
      </p:sp>
      <p:pic>
        <p:nvPicPr>
          <p:cNvPr id="7172" name="Picture 4" descr="fig_3-7"/>
          <p:cNvPicPr>
            <a:picLocks noChangeAspect="1" noChangeArrowheads="1"/>
          </p:cNvPicPr>
          <p:nvPr/>
        </p:nvPicPr>
        <p:blipFill>
          <a:blip r:embed="rId2" cstate="print"/>
          <a:srcRect l="36000"/>
          <a:stretch>
            <a:fillRect/>
          </a:stretch>
        </p:blipFill>
        <p:spPr bwMode="auto">
          <a:xfrm>
            <a:off x="990600" y="2819400"/>
            <a:ext cx="7162800" cy="3469481"/>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Dependencies</a:t>
            </a:r>
            <a:endParaRPr lang="en-CA" dirty="0"/>
          </a:p>
        </p:txBody>
      </p:sp>
      <p:sp>
        <p:nvSpPr>
          <p:cNvPr id="3" name="Content Placeholder 2"/>
          <p:cNvSpPr>
            <a:spLocks noGrp="1"/>
          </p:cNvSpPr>
          <p:nvPr>
            <p:ph idx="1"/>
          </p:nvPr>
        </p:nvSpPr>
        <p:spPr/>
        <p:txBody>
          <a:bodyPr/>
          <a:lstStyle/>
          <a:p>
            <a:r>
              <a:rPr lang="en-US" dirty="0"/>
              <a:t>To understand the rules of normalization, it is useful to understand how "functional dependencies" work.</a:t>
            </a:r>
          </a:p>
          <a:p>
            <a:r>
              <a:rPr lang="en-US" dirty="0"/>
              <a:t>The reason for having relations is to store instances of functional dependencies.</a:t>
            </a:r>
          </a:p>
          <a:p>
            <a:r>
              <a:rPr lang="en-US" dirty="0"/>
              <a:t>A functional dependency exists when the value of one or more attributes determines the value of other attributes.</a:t>
            </a:r>
          </a:p>
          <a:p>
            <a:r>
              <a:rPr lang="en-US" dirty="0"/>
              <a:t>The functional dependency holds for the whole relation, not just a particular instance of the relation.</a:t>
            </a:r>
          </a:p>
          <a:p>
            <a:r>
              <a:rPr lang="en-US" dirty="0"/>
              <a:t>Dependency Diagrams </a:t>
            </a:r>
            <a:r>
              <a:rPr lang="en-US"/>
              <a:t>– graphical </a:t>
            </a:r>
            <a:r>
              <a:rPr lang="en-US" dirty="0"/>
              <a:t>representation</a:t>
            </a:r>
          </a:p>
          <a:p>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FD example</a:t>
            </a:r>
            <a:endParaRPr lang="en-C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120548050"/>
              </p:ext>
            </p:extLst>
          </p:nvPr>
        </p:nvGraphicFramePr>
        <p:xfrm>
          <a:off x="457200" y="1935163"/>
          <a:ext cx="8229600" cy="1854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dirty="0"/>
                        <a:t>Channel #</a:t>
                      </a:r>
                      <a:endParaRPr lang="en-CA" dirty="0"/>
                    </a:p>
                  </a:txBody>
                  <a:tcPr/>
                </a:tc>
                <a:tc>
                  <a:txBody>
                    <a:bodyPr/>
                    <a:lstStyle/>
                    <a:p>
                      <a:r>
                        <a:rPr lang="en-CA" dirty="0"/>
                        <a:t>Name</a:t>
                      </a:r>
                    </a:p>
                  </a:txBody>
                  <a:tcPr/>
                </a:tc>
                <a:tc>
                  <a:txBody>
                    <a:bodyPr/>
                    <a:lstStyle/>
                    <a:p>
                      <a:r>
                        <a:rPr lang="en-US" dirty="0"/>
                        <a:t>Language</a:t>
                      </a:r>
                      <a:endParaRPr lang="en-CA" dirty="0"/>
                    </a:p>
                  </a:txBody>
                  <a:tcPr/>
                </a:tc>
                <a:extLst>
                  <a:ext uri="{0D108BD9-81ED-4DB2-BD59-A6C34878D82A}">
                    <a16:rowId xmlns:a16="http://schemas.microsoft.com/office/drawing/2014/main" val="10000"/>
                  </a:ext>
                </a:extLst>
              </a:tr>
              <a:tr h="370840">
                <a:tc>
                  <a:txBody>
                    <a:bodyPr/>
                    <a:lstStyle/>
                    <a:p>
                      <a:r>
                        <a:rPr lang="en-US" dirty="0"/>
                        <a:t>100</a:t>
                      </a:r>
                      <a:endParaRPr lang="en-CA" dirty="0"/>
                    </a:p>
                  </a:txBody>
                  <a:tcPr/>
                </a:tc>
                <a:tc>
                  <a:txBody>
                    <a:bodyPr/>
                    <a:lstStyle/>
                    <a:p>
                      <a:r>
                        <a:rPr lang="en-US" dirty="0"/>
                        <a:t>CNN</a:t>
                      </a:r>
                      <a:endParaRPr lang="en-CA" dirty="0"/>
                    </a:p>
                  </a:txBody>
                  <a:tcPr/>
                </a:tc>
                <a:tc>
                  <a:txBody>
                    <a:bodyPr/>
                    <a:lstStyle/>
                    <a:p>
                      <a:r>
                        <a:rPr lang="en-US" dirty="0"/>
                        <a:t>English</a:t>
                      </a:r>
                      <a:endParaRPr lang="en-CA" dirty="0"/>
                    </a:p>
                  </a:txBody>
                  <a:tcPr/>
                </a:tc>
                <a:extLst>
                  <a:ext uri="{0D108BD9-81ED-4DB2-BD59-A6C34878D82A}">
                    <a16:rowId xmlns:a16="http://schemas.microsoft.com/office/drawing/2014/main" val="10001"/>
                  </a:ext>
                </a:extLst>
              </a:tr>
              <a:tr h="370840">
                <a:tc>
                  <a:txBody>
                    <a:bodyPr/>
                    <a:lstStyle/>
                    <a:p>
                      <a:r>
                        <a:rPr lang="en-US" dirty="0"/>
                        <a:t>200</a:t>
                      </a:r>
                      <a:endParaRPr lang="en-CA" dirty="0"/>
                    </a:p>
                  </a:txBody>
                  <a:tcPr/>
                </a:tc>
                <a:tc>
                  <a:txBody>
                    <a:bodyPr/>
                    <a:lstStyle/>
                    <a:p>
                      <a:r>
                        <a:rPr lang="en-US" dirty="0"/>
                        <a:t>Cartoon</a:t>
                      </a:r>
                      <a:r>
                        <a:rPr lang="en-US" baseline="0" dirty="0"/>
                        <a:t> Network</a:t>
                      </a:r>
                      <a:endParaRPr lang="en-CA" dirty="0"/>
                    </a:p>
                  </a:txBody>
                  <a:tcPr/>
                </a:tc>
                <a:tc>
                  <a:txBody>
                    <a:bodyPr/>
                    <a:lstStyle/>
                    <a:p>
                      <a:r>
                        <a:rPr lang="en-US" dirty="0"/>
                        <a:t>English</a:t>
                      </a:r>
                      <a:endParaRPr lang="en-CA" dirty="0"/>
                    </a:p>
                  </a:txBody>
                  <a:tcPr/>
                </a:tc>
                <a:extLst>
                  <a:ext uri="{0D108BD9-81ED-4DB2-BD59-A6C34878D82A}">
                    <a16:rowId xmlns:a16="http://schemas.microsoft.com/office/drawing/2014/main" val="10002"/>
                  </a:ext>
                </a:extLst>
              </a:tr>
              <a:tr h="370840">
                <a:tc>
                  <a:txBody>
                    <a:bodyPr/>
                    <a:lstStyle/>
                    <a:p>
                      <a:r>
                        <a:rPr lang="en-US" dirty="0"/>
                        <a:t>255 </a:t>
                      </a:r>
                      <a:endParaRPr lang="en-CA" dirty="0"/>
                    </a:p>
                  </a:txBody>
                  <a:tcPr/>
                </a:tc>
                <a:tc>
                  <a:txBody>
                    <a:bodyPr/>
                    <a:lstStyle/>
                    <a:p>
                      <a:r>
                        <a:rPr lang="en-US" dirty="0"/>
                        <a:t>Radio</a:t>
                      </a:r>
                      <a:r>
                        <a:rPr lang="en-US" baseline="0" dirty="0"/>
                        <a:t> Canada</a:t>
                      </a:r>
                      <a:endParaRPr lang="en-CA" dirty="0"/>
                    </a:p>
                  </a:txBody>
                  <a:tcPr/>
                </a:tc>
                <a:tc>
                  <a:txBody>
                    <a:bodyPr/>
                    <a:lstStyle/>
                    <a:p>
                      <a:r>
                        <a:rPr lang="en-US" dirty="0"/>
                        <a:t>French</a:t>
                      </a:r>
                    </a:p>
                  </a:txBody>
                  <a:tcPr/>
                </a:tc>
                <a:extLst>
                  <a:ext uri="{0D108BD9-81ED-4DB2-BD59-A6C34878D82A}">
                    <a16:rowId xmlns:a16="http://schemas.microsoft.com/office/drawing/2014/main" val="10003"/>
                  </a:ext>
                </a:extLst>
              </a:tr>
              <a:tr h="370840">
                <a:tc>
                  <a:txBody>
                    <a:bodyPr/>
                    <a:lstStyle/>
                    <a:p>
                      <a:r>
                        <a:rPr lang="en-CA" dirty="0"/>
                        <a:t>138</a:t>
                      </a:r>
                    </a:p>
                  </a:txBody>
                  <a:tcPr/>
                </a:tc>
                <a:tc>
                  <a:txBody>
                    <a:bodyPr/>
                    <a:lstStyle/>
                    <a:p>
                      <a:r>
                        <a:rPr lang="en-CA" dirty="0"/>
                        <a:t>Turner Classic</a:t>
                      </a:r>
                      <a:r>
                        <a:rPr lang="en-CA" baseline="0" dirty="0"/>
                        <a:t> Movies</a:t>
                      </a:r>
                      <a:endParaRPr lang="en-CA" dirty="0"/>
                    </a:p>
                  </a:txBody>
                  <a:tcPr/>
                </a:tc>
                <a:tc>
                  <a:txBody>
                    <a:bodyPr/>
                    <a:lstStyle/>
                    <a:p>
                      <a:r>
                        <a:rPr lang="en-US" dirty="0"/>
                        <a:t>English</a:t>
                      </a:r>
                    </a:p>
                  </a:txBody>
                  <a:tcPr/>
                </a:tc>
                <a:extLst>
                  <a:ext uri="{0D108BD9-81ED-4DB2-BD59-A6C34878D82A}">
                    <a16:rowId xmlns:a16="http://schemas.microsoft.com/office/drawing/2014/main" val="3185371317"/>
                  </a:ext>
                </a:extLst>
              </a:tr>
            </a:tbl>
          </a:graphicData>
        </a:graphic>
      </p:graphicFrame>
      <p:sp>
        <p:nvSpPr>
          <p:cNvPr id="4" name="Slide Number Placeholder 3"/>
          <p:cNvSpPr>
            <a:spLocks noGrp="1"/>
          </p:cNvSpPr>
          <p:nvPr>
            <p:ph type="sldNum" sz="quarter" idx="12"/>
          </p:nvPr>
        </p:nvSpPr>
        <p:spPr/>
        <p:txBody>
          <a:bodyPr/>
          <a:lstStyle/>
          <a:p>
            <a:fld id="{555817BA-32BD-442C-96BA-2469E6603B0D}" type="slidenum">
              <a:rPr lang="en-US" smtClean="0"/>
              <a:pPr/>
              <a:t>6</a:t>
            </a:fld>
            <a:endParaRPr lang="en-US" dirty="0"/>
          </a:p>
        </p:txBody>
      </p:sp>
      <p:sp>
        <p:nvSpPr>
          <p:cNvPr id="7" name="Title 1"/>
          <p:cNvSpPr txBox="1">
            <a:spLocks/>
          </p:cNvSpPr>
          <p:nvPr/>
        </p:nvSpPr>
        <p:spPr>
          <a:xfrm>
            <a:off x="381000" y="3962400"/>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CA"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8" name="Title 1"/>
          <p:cNvSpPr txBox="1">
            <a:spLocks/>
          </p:cNvSpPr>
          <p:nvPr/>
        </p:nvSpPr>
        <p:spPr>
          <a:xfrm>
            <a:off x="457200" y="3962400"/>
            <a:ext cx="8229600" cy="2133600"/>
          </a:xfrm>
          <a:prstGeom prst="rect">
            <a:avLst/>
          </a:prstGeom>
        </p:spPr>
        <p:txBody>
          <a:bodyPr vert="horz" lIns="0" rIns="0" bIns="0" anchor="b">
            <a:normAutofit fontScale="70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a:ln>
                  <a:noFill/>
                </a:ln>
                <a:solidFill>
                  <a:schemeClr val="tx2"/>
                </a:solidFill>
                <a:effectLst/>
                <a:uLnTx/>
                <a:uFillTx/>
                <a:latin typeface="+mj-lt"/>
                <a:ea typeface="+mj-ea"/>
                <a:cs typeface="+mj-cs"/>
              </a:rPr>
              <a:t>Channel#</a:t>
            </a:r>
            <a:r>
              <a:rPr kumimoji="0" lang="en-US" sz="5000" b="0" i="0" u="none" strike="noStrike" kern="1200" cap="none" spc="0" normalizeH="0" noProof="0" dirty="0">
                <a:ln>
                  <a:noFill/>
                </a:ln>
                <a:solidFill>
                  <a:schemeClr val="tx2"/>
                </a:solidFill>
                <a:effectLst/>
                <a:uLnTx/>
                <a:uFillTx/>
                <a:latin typeface="+mj-lt"/>
                <a:ea typeface="+mj-ea"/>
                <a:cs typeface="+mj-cs"/>
              </a:rPr>
              <a:t> </a:t>
            </a:r>
            <a:r>
              <a:rPr kumimoji="0" lang="en-US" sz="5000" b="0" i="0" u="none" strike="noStrike" kern="1200" cap="none" spc="0" normalizeH="0" noProof="0" dirty="0">
                <a:ln>
                  <a:noFill/>
                </a:ln>
                <a:solidFill>
                  <a:schemeClr val="tx2"/>
                </a:solidFill>
                <a:effectLst/>
                <a:uLnTx/>
                <a:uFillTx/>
                <a:latin typeface="+mj-lt"/>
                <a:ea typeface="+mj-ea"/>
                <a:cs typeface="+mj-cs"/>
                <a:sym typeface="Wingdings" pitchFamily="2" charset="2"/>
              </a:rPr>
              <a:t> Name</a:t>
            </a:r>
          </a:p>
          <a:p>
            <a:pPr lvl="0" fontAlgn="auto">
              <a:spcAft>
                <a:spcPts val="0"/>
              </a:spcAft>
              <a:defRPr/>
            </a:pPr>
            <a:r>
              <a:rPr lang="en-US" sz="5000" dirty="0">
                <a:solidFill>
                  <a:schemeClr val="tx2"/>
                </a:solidFill>
              </a:rPr>
              <a:t>Channel#</a:t>
            </a:r>
            <a:r>
              <a:rPr lang="en-US" sz="5000" dirty="0">
                <a:solidFill>
                  <a:schemeClr val="tx2"/>
                </a:solidFill>
                <a:latin typeface="+mj-lt"/>
                <a:ea typeface="+mj-ea"/>
                <a:cs typeface="+mj-cs"/>
                <a:sym typeface="Wingdings" pitchFamily="2" charset="2"/>
              </a:rPr>
              <a:t>  Language</a:t>
            </a:r>
          </a:p>
          <a:p>
            <a:pPr marL="0" marR="0" lvl="0" indent="0" algn="l" defTabSz="914400" rtl="0" eaLnBrk="1" fontAlgn="auto" latinLnBrk="0" hangingPunct="1">
              <a:lnSpc>
                <a:spcPct val="100000"/>
              </a:lnSpc>
              <a:spcBef>
                <a:spcPct val="0"/>
              </a:spcBef>
              <a:spcAft>
                <a:spcPts val="0"/>
              </a:spcAft>
              <a:buClrTx/>
              <a:buSzTx/>
              <a:buFontTx/>
              <a:buNone/>
              <a:tabLst/>
              <a:defRPr/>
            </a:pPr>
            <a:endParaRPr lang="en-US" sz="5000" dirty="0">
              <a:solidFill>
                <a:schemeClr val="tx2"/>
              </a:solidFill>
              <a:latin typeface="+mj-lt"/>
              <a:ea typeface="+mj-ea"/>
              <a:cs typeface="+mj-cs"/>
              <a:sym typeface="Wingdings" pitchFamily="2" charset="2"/>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100" b="0" i="0" u="none" strike="noStrike" kern="1200" cap="none" spc="0" normalizeH="0" baseline="0" noProof="0" dirty="0">
                <a:ln>
                  <a:noFill/>
                </a:ln>
                <a:solidFill>
                  <a:schemeClr val="tx2"/>
                </a:solidFill>
                <a:effectLst/>
                <a:uLnTx/>
                <a:uFillTx/>
                <a:latin typeface="+mj-lt"/>
                <a:ea typeface="+mj-ea"/>
                <a:cs typeface="+mj-cs"/>
                <a:sym typeface="Wingdings" pitchFamily="2" charset="2"/>
              </a:rPr>
              <a:t>Or may be</a:t>
            </a:r>
            <a:r>
              <a:rPr kumimoji="0" lang="en-US" sz="3100" b="0" i="0" u="none" strike="noStrike" kern="1200" cap="none" spc="0" normalizeH="0" noProof="0" dirty="0">
                <a:ln>
                  <a:noFill/>
                </a:ln>
                <a:solidFill>
                  <a:schemeClr val="tx2"/>
                </a:solidFill>
                <a:effectLst/>
                <a:uLnTx/>
                <a:uFillTx/>
                <a:latin typeface="+mj-lt"/>
                <a:ea typeface="+mj-ea"/>
                <a:cs typeface="+mj-cs"/>
                <a:sym typeface="Wingdings" pitchFamily="2" charset="2"/>
              </a:rPr>
              <a:t> written as:</a:t>
            </a:r>
            <a:endParaRPr kumimoji="0" lang="en-US" sz="3100" b="0" i="0" u="none" strike="noStrike" kern="1200" cap="none" spc="0" normalizeH="0" baseline="0" noProof="0" dirty="0">
              <a:ln>
                <a:noFill/>
              </a:ln>
              <a:solidFill>
                <a:schemeClr val="tx2"/>
              </a:solidFill>
              <a:effectLst/>
              <a:uLnTx/>
              <a:uFillTx/>
              <a:latin typeface="+mj-lt"/>
              <a:ea typeface="+mj-ea"/>
              <a:cs typeface="+mj-cs"/>
              <a:sym typeface="Wingdings" pitchFamily="2" charset="2"/>
            </a:endParaRPr>
          </a:p>
          <a:p>
            <a:pPr lvl="0" fontAlgn="auto">
              <a:spcAft>
                <a:spcPts val="0"/>
              </a:spcAft>
              <a:defRPr/>
            </a:pPr>
            <a:r>
              <a:rPr lang="en-US" sz="5000" dirty="0">
                <a:solidFill>
                  <a:schemeClr val="tx2"/>
                </a:solidFill>
              </a:rPr>
              <a:t>Channel#</a:t>
            </a:r>
            <a:r>
              <a:rPr lang="en-US" sz="5000" dirty="0">
                <a:solidFill>
                  <a:schemeClr val="tx2"/>
                </a:solidFill>
                <a:latin typeface="+mj-lt"/>
                <a:ea typeface="+mj-ea"/>
                <a:cs typeface="+mj-cs"/>
                <a:sym typeface="Wingdings" pitchFamily="2" charset="2"/>
              </a:rPr>
              <a:t>  (Name, Language)</a:t>
            </a:r>
            <a:endParaRPr kumimoji="0" lang="en-CA" sz="5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FDs</a:t>
            </a:r>
            <a:endParaRPr lang="en-CA" dirty="0"/>
          </a:p>
        </p:txBody>
      </p:sp>
      <p:sp>
        <p:nvSpPr>
          <p:cNvPr id="3" name="Content Placeholder 2"/>
          <p:cNvSpPr>
            <a:spLocks noGrp="1"/>
          </p:cNvSpPr>
          <p:nvPr>
            <p:ph idx="1"/>
          </p:nvPr>
        </p:nvSpPr>
        <p:spPr/>
        <p:txBody>
          <a:bodyPr/>
          <a:lstStyle/>
          <a:p>
            <a:r>
              <a:rPr lang="en-US" dirty="0"/>
              <a:t>A composite group can occur on either side of a FD</a:t>
            </a:r>
          </a:p>
          <a:p>
            <a:r>
              <a:rPr lang="en-US" dirty="0"/>
              <a:t>A grade in a course is determined by both the student and the course</a:t>
            </a:r>
          </a:p>
          <a:p>
            <a:pPr lvl="1"/>
            <a:r>
              <a:rPr lang="en-US" dirty="0"/>
              <a:t>(</a:t>
            </a:r>
            <a:r>
              <a:rPr lang="en-US" dirty="0" err="1"/>
              <a:t>StudentID</a:t>
            </a:r>
            <a:r>
              <a:rPr lang="en-US" dirty="0"/>
              <a:t>, </a:t>
            </a:r>
            <a:r>
              <a:rPr lang="en-US" dirty="0" err="1"/>
              <a:t>CourseID</a:t>
            </a:r>
            <a:r>
              <a:rPr lang="en-US" dirty="0"/>
              <a:t>) </a:t>
            </a:r>
            <a:r>
              <a:rPr lang="en-US" dirty="0">
                <a:sym typeface="Wingdings" pitchFamily="2" charset="2"/>
              </a:rPr>
              <a:t> Grade</a:t>
            </a:r>
          </a:p>
          <a:p>
            <a:r>
              <a:rPr lang="en-US" dirty="0">
                <a:sym typeface="Wingdings" pitchFamily="2" charset="2"/>
              </a:rPr>
              <a:t>If (A, B)  C, then neither A nor B will determine C by itself</a:t>
            </a:r>
          </a:p>
          <a:p>
            <a:r>
              <a:rPr lang="en-US" dirty="0">
                <a:sym typeface="Wingdings" pitchFamily="2" charset="2"/>
              </a:rPr>
              <a:t>If A  (B, C), then it is true that A  B and A  C</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r>
              <a:rPr lang="en-US" dirty="0"/>
              <a:t>Finding Functional Dependencies</a:t>
            </a:r>
          </a:p>
        </p:txBody>
      </p:sp>
      <p:pic>
        <p:nvPicPr>
          <p:cNvPr id="8196" name="Picture 4"/>
          <p:cNvPicPr>
            <a:picLocks noGrp="1" noChangeAspect="1" noChangeArrowheads="1"/>
          </p:cNvPicPr>
          <p:nvPr>
            <p:ph idx="1"/>
          </p:nvPr>
        </p:nvPicPr>
        <p:blipFill>
          <a:blip r:embed="rId2" cstate="print"/>
          <a:srcRect/>
          <a:stretch>
            <a:fillRect/>
          </a:stretch>
        </p:blipFill>
        <p:spPr>
          <a:xfrm>
            <a:off x="762000" y="1981200"/>
            <a:ext cx="7772400" cy="3697288"/>
          </a:xfrm>
          <a:noFill/>
          <a:ln/>
        </p:spPr>
      </p:pic>
      <p:sp>
        <p:nvSpPr>
          <p:cNvPr id="6" name="Slide Number Placeholder 5"/>
          <p:cNvSpPr>
            <a:spLocks noGrp="1"/>
          </p:cNvSpPr>
          <p:nvPr>
            <p:ph type="sldNum" sz="quarter" idx="12"/>
          </p:nvPr>
        </p:nvSpPr>
        <p:spPr/>
        <p:txBody>
          <a:bodyPr/>
          <a:lstStyle/>
          <a:p>
            <a:fld id="{AD1C5734-6ABE-4FB7-97EE-5A9FEF082488}" type="slidenum">
              <a:rPr lang="en-US"/>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8" name="Rectangle 232"/>
          <p:cNvSpPr>
            <a:spLocks noGrp="1" noChangeArrowheads="1"/>
          </p:cNvSpPr>
          <p:nvPr>
            <p:ph type="title"/>
          </p:nvPr>
        </p:nvSpPr>
        <p:spPr/>
        <p:txBody>
          <a:bodyPr/>
          <a:lstStyle/>
          <a:p>
            <a:r>
              <a:rPr lang="en-US" dirty="0"/>
              <a:t>Functional Dependency Ex</a:t>
            </a:r>
          </a:p>
        </p:txBody>
      </p:sp>
      <p:graphicFrame>
        <p:nvGraphicFramePr>
          <p:cNvPr id="9463" name="Group 247"/>
          <p:cNvGraphicFramePr>
            <a:graphicFrameLocks noGrp="1"/>
          </p:cNvGraphicFramePr>
          <p:nvPr>
            <p:ph type="tbl" idx="1"/>
          </p:nvPr>
        </p:nvGraphicFramePr>
        <p:xfrm>
          <a:off x="381000" y="2362200"/>
          <a:ext cx="8229600" cy="2209800"/>
        </p:xfrm>
        <a:graphic>
          <a:graphicData uri="http://schemas.openxmlformats.org/drawingml/2006/table">
            <a:tbl>
              <a:tblPr/>
              <a:tblGrid>
                <a:gridCol w="1200150">
                  <a:extLst>
                    <a:ext uri="{9D8B030D-6E8A-4147-A177-3AD203B41FA5}">
                      <a16:colId xmlns:a16="http://schemas.microsoft.com/office/drawing/2014/main" val="20000"/>
                    </a:ext>
                  </a:extLst>
                </a:gridCol>
                <a:gridCol w="1111250">
                  <a:extLst>
                    <a:ext uri="{9D8B030D-6E8A-4147-A177-3AD203B41FA5}">
                      <a16:colId xmlns:a16="http://schemas.microsoft.com/office/drawing/2014/main" val="20001"/>
                    </a:ext>
                  </a:extLst>
                </a:gridCol>
                <a:gridCol w="1431925">
                  <a:extLst>
                    <a:ext uri="{9D8B030D-6E8A-4147-A177-3AD203B41FA5}">
                      <a16:colId xmlns:a16="http://schemas.microsoft.com/office/drawing/2014/main" val="20002"/>
                    </a:ext>
                  </a:extLst>
                </a:gridCol>
                <a:gridCol w="1314450">
                  <a:extLst>
                    <a:ext uri="{9D8B030D-6E8A-4147-A177-3AD203B41FA5}">
                      <a16:colId xmlns:a16="http://schemas.microsoft.com/office/drawing/2014/main" val="20003"/>
                    </a:ext>
                  </a:extLst>
                </a:gridCol>
                <a:gridCol w="1506538">
                  <a:extLst>
                    <a:ext uri="{9D8B030D-6E8A-4147-A177-3AD203B41FA5}">
                      <a16:colId xmlns:a16="http://schemas.microsoft.com/office/drawing/2014/main" val="20004"/>
                    </a:ext>
                  </a:extLst>
                </a:gridCol>
                <a:gridCol w="903287">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tblGrid>
              <a:tr h="4572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studentID</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stuName</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stuAddress</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courseID</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courseName</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credits</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mark</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CST201</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Fred</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123 Main St</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CDBM190</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SQL</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4</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86</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CST202</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Jane</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6 Last Ave</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CDBM190</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SQL</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4</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76</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CST201</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Fred</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123 Main St</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COSC285</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Internet Prog</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5</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75</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CST202</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Jane</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6 Last Ave</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COSC285</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Internet Prog</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5</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8" charset="0"/>
                          <a:cs typeface="Times New Roman" pitchFamily="18" charset="0"/>
                        </a:rPr>
                        <a:t>88</a:t>
                      </a:r>
                      <a:endParaRPr kumimoji="0" lang="en-US" sz="16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5" name="Slide Number Placeholder 5"/>
          <p:cNvSpPr>
            <a:spLocks noGrp="1"/>
          </p:cNvSpPr>
          <p:nvPr>
            <p:ph type="sldNum" sz="quarter" idx="12"/>
          </p:nvPr>
        </p:nvSpPr>
        <p:spPr/>
        <p:txBody>
          <a:bodyPr/>
          <a:lstStyle/>
          <a:p>
            <a:fld id="{035E3630-EB09-4DFA-91B8-F933A4A2E4FE}" type="slidenum">
              <a:rPr lang="en-US"/>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Modification Anomalies</a:t>
            </a:r>
            <a:endParaRPr lang="en-CA" dirty="0"/>
          </a:p>
        </p:txBody>
      </p:sp>
      <p:sp>
        <p:nvSpPr>
          <p:cNvPr id="3" name="Content Placeholder 2"/>
          <p:cNvSpPr>
            <a:spLocks noGrp="1"/>
          </p:cNvSpPr>
          <p:nvPr>
            <p:ph idx="1"/>
          </p:nvPr>
        </p:nvSpPr>
        <p:spPr/>
        <p:txBody>
          <a:bodyPr/>
          <a:lstStyle/>
          <a:p>
            <a:r>
              <a:rPr lang="en-US" dirty="0"/>
              <a:t>Occur when changing the data creates undesirable consequences.</a:t>
            </a:r>
          </a:p>
          <a:p>
            <a:r>
              <a:rPr lang="en-US" dirty="0"/>
              <a:t>Three types:</a:t>
            </a:r>
            <a:endParaRPr lang="en-CA" dirty="0"/>
          </a:p>
          <a:p>
            <a:pPr lvl="1"/>
            <a:r>
              <a:rPr lang="en-US" dirty="0"/>
              <a:t>Deletion anomaly</a:t>
            </a:r>
          </a:p>
          <a:p>
            <a:pPr lvl="1"/>
            <a:r>
              <a:rPr lang="en-US" dirty="0"/>
              <a:t>Insertion anomaly</a:t>
            </a:r>
          </a:p>
          <a:p>
            <a:pPr lvl="1"/>
            <a:r>
              <a:rPr lang="en-US" dirty="0"/>
              <a:t>Update anomaly</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Deletion Anomaly</a:t>
            </a:r>
          </a:p>
        </p:txBody>
      </p:sp>
      <p:sp>
        <p:nvSpPr>
          <p:cNvPr id="5" name="Content Placeholder 4"/>
          <p:cNvSpPr>
            <a:spLocks noGrp="1"/>
          </p:cNvSpPr>
          <p:nvPr>
            <p:ph idx="1"/>
          </p:nvPr>
        </p:nvSpPr>
        <p:spPr/>
        <p:txBody>
          <a:bodyPr/>
          <a:lstStyle/>
          <a:p>
            <a:r>
              <a:rPr lang="en-US" dirty="0"/>
              <a:t>A deletion anomaly occurs when you delete a tuple and it not only deletes the facts you wanted but also deletes another piece of data.</a:t>
            </a:r>
          </a:p>
          <a:p>
            <a:pPr marL="274320" lvl="1" indent="-274320">
              <a:buClr>
                <a:schemeClr val="accent3"/>
              </a:buClr>
              <a:buSzPct val="95000"/>
            </a:pPr>
            <a:r>
              <a:rPr lang="en-US" dirty="0" err="1"/>
              <a:t>EquipmentRepair</a:t>
            </a:r>
            <a:r>
              <a:rPr lang="en-US" dirty="0"/>
              <a:t>(</a:t>
            </a:r>
            <a:r>
              <a:rPr lang="en-US" dirty="0" err="1"/>
              <a:t>I</a:t>
            </a:r>
            <a:r>
              <a:rPr lang="en-US" u="sng" dirty="0" err="1"/>
              <a:t>temNumber</a:t>
            </a:r>
            <a:r>
              <a:rPr lang="en-US" u="sng" dirty="0"/>
              <a:t>,</a:t>
            </a:r>
            <a:r>
              <a:rPr lang="en-US" dirty="0"/>
              <a:t> </a:t>
            </a:r>
            <a:r>
              <a:rPr lang="en-US" u="sng" dirty="0" err="1"/>
              <a:t>RepairNumber</a:t>
            </a:r>
            <a:r>
              <a:rPr lang="en-US" dirty="0"/>
              <a:t>, Type, </a:t>
            </a:r>
            <a:r>
              <a:rPr lang="en-US" dirty="0" err="1"/>
              <a:t>AcquisitionCost</a:t>
            </a:r>
            <a:r>
              <a:rPr lang="en-US" dirty="0"/>
              <a:t>, </a:t>
            </a:r>
            <a:r>
              <a:rPr lang="en-US" dirty="0" err="1"/>
              <a:t>RepairDate</a:t>
            </a:r>
            <a:r>
              <a:rPr lang="en-US" dirty="0"/>
              <a:t>, </a:t>
            </a:r>
            <a:r>
              <a:rPr lang="en-US" dirty="0" err="1"/>
              <a:t>RepairAmount</a:t>
            </a:r>
            <a:r>
              <a:rPr lang="en-US" dirty="0"/>
              <a:t>)</a:t>
            </a:r>
          </a:p>
          <a:p>
            <a:r>
              <a:rPr lang="en-US" dirty="0"/>
              <a:t>Ex: Delete repair number 2100</a:t>
            </a:r>
          </a:p>
        </p:txBody>
      </p:sp>
      <p:sp>
        <p:nvSpPr>
          <p:cNvPr id="6" name="Slide Number Placeholder 3"/>
          <p:cNvSpPr>
            <a:spLocks noGrp="1"/>
          </p:cNvSpPr>
          <p:nvPr>
            <p:ph type="sldNum" sz="quarter" idx="12"/>
          </p:nvPr>
        </p:nvSpPr>
        <p:spPr/>
        <p:txBody>
          <a:bodyPr/>
          <a:lstStyle/>
          <a:p>
            <a:fld id="{492FEEAF-2E98-4714-9B87-82BC2D305DF9}" type="slidenum">
              <a:rPr lang="en-US"/>
              <a:pPr/>
              <a:t>11</a:t>
            </a:fld>
            <a:endParaRPr lang="en-US" dirty="0"/>
          </a:p>
        </p:txBody>
      </p:sp>
      <p:pic>
        <p:nvPicPr>
          <p:cNvPr id="13316" name="Picture 4" descr="fig_3-8"/>
          <p:cNvPicPr>
            <a:picLocks noChangeAspect="1" noChangeArrowheads="1"/>
          </p:cNvPicPr>
          <p:nvPr/>
        </p:nvPicPr>
        <p:blipFill>
          <a:blip r:embed="rId2" cstate="print"/>
          <a:srcRect l="21000"/>
          <a:stretch>
            <a:fillRect/>
          </a:stretch>
        </p:blipFill>
        <p:spPr bwMode="auto">
          <a:xfrm>
            <a:off x="914400" y="4495800"/>
            <a:ext cx="7467600" cy="1985058"/>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a:t>Deletion Anomaly</a:t>
            </a:r>
          </a:p>
        </p:txBody>
      </p:sp>
      <p:sp>
        <p:nvSpPr>
          <p:cNvPr id="6" name="Slide Number Placeholder 3"/>
          <p:cNvSpPr>
            <a:spLocks noGrp="1"/>
          </p:cNvSpPr>
          <p:nvPr>
            <p:ph type="sldNum" sz="quarter" idx="12"/>
          </p:nvPr>
        </p:nvSpPr>
        <p:spPr/>
        <p:txBody>
          <a:bodyPr/>
          <a:lstStyle/>
          <a:p>
            <a:fld id="{20AE134A-6920-4B4B-BEBC-AD1851F451E9}" type="slidenum">
              <a:rPr lang="en-US"/>
              <a:pPr/>
              <a:t>12</a:t>
            </a:fld>
            <a:endParaRPr lang="en-US" dirty="0"/>
          </a:p>
        </p:txBody>
      </p:sp>
      <p:pic>
        <p:nvPicPr>
          <p:cNvPr id="8" name="Picture 4" descr="FIG_04_05"/>
          <p:cNvPicPr>
            <a:picLocks noGrp="1" noChangeAspect="1" noChangeArrowheads="1"/>
          </p:cNvPicPr>
          <p:nvPr>
            <p:ph sz="half" idx="1"/>
          </p:nvPr>
        </p:nvPicPr>
        <p:blipFill>
          <a:blip r:embed="rId2" cstate="print"/>
          <a:srcRect t="14583"/>
          <a:stretch>
            <a:fillRect/>
          </a:stretch>
        </p:blipFill>
        <p:spPr bwMode="auto">
          <a:xfrm>
            <a:off x="914400" y="3091882"/>
            <a:ext cx="5105400" cy="3337395"/>
          </a:xfrm>
          <a:prstGeom prst="rect">
            <a:avLst/>
          </a:prstGeom>
          <a:noFill/>
        </p:spPr>
      </p:pic>
      <p:sp>
        <p:nvSpPr>
          <p:cNvPr id="9" name="Content Placeholder 6"/>
          <p:cNvSpPr txBox="1">
            <a:spLocks/>
          </p:cNvSpPr>
          <p:nvPr/>
        </p:nvSpPr>
        <p:spPr>
          <a:xfrm>
            <a:off x="533400" y="1981200"/>
            <a:ext cx="8153400" cy="1143000"/>
          </a:xfrm>
          <a:prstGeom prst="rect">
            <a:avLst/>
          </a:prstGeom>
        </p:spPr>
        <p:txBody>
          <a:bodyPr>
            <a:normAutofit fontScale="70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lang="en-US" sz="2600" dirty="0">
                <a:latin typeface="+mn-lt"/>
              </a:rPr>
              <a:t>This relation stores a list of all activities offered (and the activity's associated fee) and students taking those activities. </a:t>
            </a:r>
          </a:p>
          <a:p>
            <a:pPr marL="731520" lvl="1" indent="-274320" fontAlgn="auto">
              <a:spcBef>
                <a:spcPct val="20000"/>
              </a:spcBef>
              <a:spcAft>
                <a:spcPts val="0"/>
              </a:spcAft>
              <a:buClr>
                <a:schemeClr val="accent3"/>
              </a:buClr>
              <a:buSzPct val="95000"/>
              <a:buFont typeface="Wingdings 2"/>
              <a:buChar char=""/>
              <a:defRPr/>
            </a:pPr>
            <a:r>
              <a:rPr kumimoji="0" lang="en-CA" sz="2600" b="0" i="0" u="none" strike="noStrike" kern="1200" cap="none" spc="0" normalizeH="0" baseline="0" noProof="0" dirty="0">
                <a:ln>
                  <a:noFill/>
                </a:ln>
                <a:solidFill>
                  <a:schemeClr val="tx1"/>
                </a:solidFill>
                <a:effectLst/>
                <a:uLnTx/>
                <a:uFillTx/>
                <a:latin typeface="+mn-lt"/>
                <a:ea typeface="+mn-ea"/>
                <a:cs typeface="+mn-cs"/>
              </a:rPr>
              <a:t>SID </a:t>
            </a:r>
            <a:r>
              <a:rPr kumimoji="0" lang="en-CA" sz="2600" b="0" i="0" u="none" strike="noStrike" kern="1200" cap="none" spc="0" normalizeH="0" baseline="0" noProof="0" dirty="0">
                <a:ln>
                  <a:noFill/>
                </a:ln>
                <a:solidFill>
                  <a:schemeClr val="tx1"/>
                </a:solidFill>
                <a:effectLst/>
                <a:uLnTx/>
                <a:uFillTx/>
                <a:latin typeface="+mn-lt"/>
                <a:ea typeface="+mn-ea"/>
                <a:cs typeface="+mn-cs"/>
                <a:sym typeface="Wingdings" pitchFamily="2" charset="2"/>
              </a:rPr>
              <a:t> Activity</a:t>
            </a:r>
            <a:endParaRPr kumimoji="0" lang="en-CA" sz="2600" b="0" i="0" u="none" strike="noStrike" kern="1200" cap="none" spc="0" normalizeH="0" noProof="0" dirty="0">
              <a:ln>
                <a:noFill/>
              </a:ln>
              <a:solidFill>
                <a:schemeClr val="tx1"/>
              </a:solidFill>
              <a:effectLst/>
              <a:uLnTx/>
              <a:uFillTx/>
              <a:latin typeface="+mn-lt"/>
              <a:ea typeface="+mn-ea"/>
              <a:cs typeface="+mn-cs"/>
              <a:sym typeface="Wingdings" pitchFamily="2" charset="2"/>
            </a:endParaRPr>
          </a:p>
          <a:p>
            <a:pPr marL="731520" lvl="1" indent="-274320" fontAlgn="auto">
              <a:spcBef>
                <a:spcPct val="20000"/>
              </a:spcBef>
              <a:spcAft>
                <a:spcPts val="0"/>
              </a:spcAft>
              <a:buClr>
                <a:schemeClr val="accent3"/>
              </a:buClr>
              <a:buSzPct val="95000"/>
              <a:buFont typeface="Wingdings 2"/>
              <a:buChar char=""/>
              <a:defRPr/>
            </a:pPr>
            <a:r>
              <a:rPr lang="en-CA" sz="2600" baseline="0" dirty="0">
                <a:latin typeface="+mn-lt"/>
                <a:sym typeface="Wingdings" pitchFamily="2" charset="2"/>
              </a:rPr>
              <a:t>Activity</a:t>
            </a:r>
            <a:r>
              <a:rPr lang="en-CA" sz="2600" dirty="0">
                <a:latin typeface="+mn-lt"/>
                <a:sym typeface="Wingdings" pitchFamily="2" charset="2"/>
              </a:rPr>
              <a:t>  Fee</a:t>
            </a:r>
            <a:endParaRPr kumimoji="0" lang="en-CA"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704088"/>
            <a:ext cx="8229600" cy="819912"/>
          </a:xfrm>
        </p:spPr>
        <p:txBody>
          <a:bodyPr/>
          <a:lstStyle/>
          <a:p>
            <a:r>
              <a:rPr lang="en-US" dirty="0"/>
              <a:t>Insertion Anomaly</a:t>
            </a:r>
          </a:p>
        </p:txBody>
      </p:sp>
      <p:sp>
        <p:nvSpPr>
          <p:cNvPr id="5" name="Content Placeholder 4"/>
          <p:cNvSpPr>
            <a:spLocks noGrp="1"/>
          </p:cNvSpPr>
          <p:nvPr>
            <p:ph idx="1"/>
          </p:nvPr>
        </p:nvSpPr>
        <p:spPr>
          <a:xfrm>
            <a:off x="457200" y="1524000"/>
            <a:ext cx="8229600" cy="4876800"/>
          </a:xfrm>
        </p:spPr>
        <p:txBody>
          <a:bodyPr/>
          <a:lstStyle/>
          <a:p>
            <a:r>
              <a:rPr lang="en-US" dirty="0"/>
              <a:t>An insertion anomaly occurs when we cannot insert a fact about one entity until we have an additional fact about another entity.</a:t>
            </a:r>
          </a:p>
          <a:p>
            <a:pPr marL="274320" lvl="1" indent="-274320">
              <a:buClr>
                <a:schemeClr val="accent3"/>
              </a:buClr>
              <a:buSzPct val="95000"/>
            </a:pPr>
            <a:r>
              <a:rPr lang="en-US" dirty="0" err="1"/>
              <a:t>EquipmentRepair</a:t>
            </a:r>
            <a:r>
              <a:rPr lang="en-US" dirty="0"/>
              <a:t>(</a:t>
            </a:r>
            <a:r>
              <a:rPr lang="en-US" dirty="0" err="1"/>
              <a:t>I</a:t>
            </a:r>
            <a:r>
              <a:rPr lang="en-US" u="sng" dirty="0" err="1"/>
              <a:t>temNumber</a:t>
            </a:r>
            <a:r>
              <a:rPr lang="en-US" u="sng" dirty="0"/>
              <a:t>,</a:t>
            </a:r>
            <a:r>
              <a:rPr lang="en-US" dirty="0"/>
              <a:t> </a:t>
            </a:r>
            <a:r>
              <a:rPr lang="en-US" u="sng" dirty="0" err="1"/>
              <a:t>RepairNumber</a:t>
            </a:r>
            <a:r>
              <a:rPr lang="en-US" dirty="0"/>
              <a:t>, Type, </a:t>
            </a:r>
            <a:r>
              <a:rPr lang="en-US" dirty="0" err="1"/>
              <a:t>AcquisitionCost</a:t>
            </a:r>
            <a:r>
              <a:rPr lang="en-US" dirty="0"/>
              <a:t>, </a:t>
            </a:r>
            <a:r>
              <a:rPr lang="en-US" dirty="0" err="1"/>
              <a:t>RepairDate</a:t>
            </a:r>
            <a:r>
              <a:rPr lang="en-US" dirty="0"/>
              <a:t>, </a:t>
            </a:r>
            <a:r>
              <a:rPr lang="en-US" dirty="0" err="1"/>
              <a:t>RepairAmount</a:t>
            </a:r>
            <a:r>
              <a:rPr lang="en-US" dirty="0"/>
              <a:t>)</a:t>
            </a:r>
          </a:p>
          <a:p>
            <a:r>
              <a:rPr lang="en-US" dirty="0"/>
              <a:t>Ex: Add a new item to the table: </a:t>
            </a:r>
            <a:r>
              <a:rPr lang="en-US" dirty="0" err="1"/>
              <a:t>ItemNumber</a:t>
            </a:r>
            <a:r>
              <a:rPr lang="en-US" dirty="0"/>
              <a:t> (400) for a Drill Bit that’s acquisition cost is $67.00.</a:t>
            </a:r>
          </a:p>
          <a:p>
            <a:pPr lvl="1"/>
            <a:endParaRPr lang="en-CA" dirty="0"/>
          </a:p>
          <a:p>
            <a:endParaRPr lang="en-CA" dirty="0"/>
          </a:p>
        </p:txBody>
      </p:sp>
      <p:sp>
        <p:nvSpPr>
          <p:cNvPr id="6" name="Slide Number Placeholder 3"/>
          <p:cNvSpPr>
            <a:spLocks noGrp="1"/>
          </p:cNvSpPr>
          <p:nvPr>
            <p:ph type="sldNum" sz="quarter" idx="12"/>
          </p:nvPr>
        </p:nvSpPr>
        <p:spPr/>
        <p:txBody>
          <a:bodyPr/>
          <a:lstStyle/>
          <a:p>
            <a:fld id="{044E51C7-08C3-400A-9831-341C9EACF49E}" type="slidenum">
              <a:rPr lang="en-US"/>
              <a:pPr/>
              <a:t>13</a:t>
            </a:fld>
            <a:endParaRPr lang="en-US" dirty="0"/>
          </a:p>
        </p:txBody>
      </p:sp>
      <p:pic>
        <p:nvPicPr>
          <p:cNvPr id="15364" name="Picture 4" descr="fig_3-9"/>
          <p:cNvPicPr>
            <a:picLocks noChangeAspect="1" noChangeArrowheads="1"/>
          </p:cNvPicPr>
          <p:nvPr/>
        </p:nvPicPr>
        <p:blipFill>
          <a:blip r:embed="rId2" cstate="print"/>
          <a:srcRect l="21495"/>
          <a:stretch>
            <a:fillRect/>
          </a:stretch>
        </p:blipFill>
        <p:spPr bwMode="auto">
          <a:xfrm>
            <a:off x="838200" y="4419600"/>
            <a:ext cx="7620000" cy="19812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 Anomaly</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14</a:t>
            </a:fld>
            <a:endParaRPr lang="en-US" dirty="0"/>
          </a:p>
        </p:txBody>
      </p:sp>
      <p:pic>
        <p:nvPicPr>
          <p:cNvPr id="7" name="Picture 4" descr="FIG_04_05"/>
          <p:cNvPicPr>
            <a:picLocks noGrp="1" noChangeAspect="1" noChangeArrowheads="1"/>
          </p:cNvPicPr>
          <p:nvPr>
            <p:ph idx="1"/>
          </p:nvPr>
        </p:nvPicPr>
        <p:blipFill>
          <a:blip r:embed="rId2" cstate="print"/>
          <a:srcRect t="13201"/>
          <a:stretch>
            <a:fillRect/>
          </a:stretch>
        </p:blipFill>
        <p:spPr bwMode="auto">
          <a:xfrm>
            <a:off x="762000" y="2133600"/>
            <a:ext cx="6248400" cy="4150689"/>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Anomaly</a:t>
            </a:r>
            <a:endParaRPr lang="en-CA" dirty="0"/>
          </a:p>
        </p:txBody>
      </p:sp>
      <p:sp>
        <p:nvSpPr>
          <p:cNvPr id="3" name="Content Placeholder 2"/>
          <p:cNvSpPr>
            <a:spLocks noGrp="1"/>
          </p:cNvSpPr>
          <p:nvPr>
            <p:ph idx="1"/>
          </p:nvPr>
        </p:nvSpPr>
        <p:spPr/>
        <p:txBody>
          <a:bodyPr/>
          <a:lstStyle/>
          <a:p>
            <a:r>
              <a:rPr lang="en-US" dirty="0"/>
              <a:t>Occurs when </a:t>
            </a:r>
            <a:r>
              <a:rPr lang="en-CA" dirty="0"/>
              <a:t>the same information can be expressed on multiple rows; therefore updates to the table may result in logical inconsistencies. </a:t>
            </a:r>
          </a:p>
          <a:p>
            <a:r>
              <a:rPr lang="en-US" dirty="0"/>
              <a:t>Ex: There are two acquisition costs for the Drill Press.</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15</a:t>
            </a:fld>
            <a:endParaRPr lang="en-US" dirty="0"/>
          </a:p>
        </p:txBody>
      </p:sp>
      <p:pic>
        <p:nvPicPr>
          <p:cNvPr id="5" name="Picture 4" descr="fig_3-9"/>
          <p:cNvPicPr>
            <a:picLocks noChangeAspect="1" noChangeArrowheads="1"/>
          </p:cNvPicPr>
          <p:nvPr/>
        </p:nvPicPr>
        <p:blipFill>
          <a:blip r:embed="rId2" cstate="print"/>
          <a:srcRect l="21495"/>
          <a:stretch>
            <a:fillRect/>
          </a:stretch>
        </p:blipFill>
        <p:spPr bwMode="auto">
          <a:xfrm>
            <a:off x="762000" y="3962400"/>
            <a:ext cx="7620000" cy="19812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Anomaly</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16</a:t>
            </a:fld>
            <a:endParaRPr lang="en-US" dirty="0"/>
          </a:p>
        </p:txBody>
      </p:sp>
      <p:pic>
        <p:nvPicPr>
          <p:cNvPr id="5" name="Picture 4" descr="FIG_04_05"/>
          <p:cNvPicPr>
            <a:picLocks noChangeAspect="1" noChangeArrowheads="1"/>
          </p:cNvPicPr>
          <p:nvPr/>
        </p:nvPicPr>
        <p:blipFill>
          <a:blip r:embed="rId2" cstate="print"/>
          <a:srcRect t="13201"/>
          <a:stretch>
            <a:fillRect/>
          </a:stretch>
        </p:blipFill>
        <p:spPr bwMode="auto">
          <a:xfrm>
            <a:off x="1066800" y="2362200"/>
            <a:ext cx="6136974" cy="407667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en-US" dirty="0"/>
              <a:t>Solve the problem with anomalies</a:t>
            </a:r>
          </a:p>
        </p:txBody>
      </p:sp>
      <p:sp>
        <p:nvSpPr>
          <p:cNvPr id="5" name="Content Placeholder 4"/>
          <p:cNvSpPr>
            <a:spLocks noGrp="1"/>
          </p:cNvSpPr>
          <p:nvPr>
            <p:ph idx="1"/>
          </p:nvPr>
        </p:nvSpPr>
        <p:spPr/>
        <p:txBody>
          <a:bodyPr/>
          <a:lstStyle/>
          <a:p>
            <a:r>
              <a:rPr lang="en-US" dirty="0"/>
              <a:t>Divide the table into multiple, joining tables</a:t>
            </a:r>
            <a:endParaRPr lang="en-CA" dirty="0"/>
          </a:p>
        </p:txBody>
      </p:sp>
      <p:sp>
        <p:nvSpPr>
          <p:cNvPr id="6" name="Slide Number Placeholder 3"/>
          <p:cNvSpPr>
            <a:spLocks noGrp="1"/>
          </p:cNvSpPr>
          <p:nvPr>
            <p:ph type="sldNum" sz="quarter" idx="12"/>
          </p:nvPr>
        </p:nvSpPr>
        <p:spPr/>
        <p:txBody>
          <a:bodyPr/>
          <a:lstStyle/>
          <a:p>
            <a:fld id="{C914283A-DEEC-4BE6-9C3D-1C7B78F75826}" type="slidenum">
              <a:rPr lang="en-US"/>
              <a:pPr/>
              <a:t>17</a:t>
            </a:fld>
            <a:endParaRPr lang="en-US" dirty="0"/>
          </a:p>
        </p:txBody>
      </p:sp>
      <p:pic>
        <p:nvPicPr>
          <p:cNvPr id="16388" name="Picture 4" descr="FIG_04_06"/>
          <p:cNvPicPr>
            <a:picLocks noChangeAspect="1" noChangeArrowheads="1"/>
          </p:cNvPicPr>
          <p:nvPr/>
        </p:nvPicPr>
        <p:blipFill>
          <a:blip r:embed="rId2" cstate="print"/>
          <a:srcRect t="17158"/>
          <a:stretch>
            <a:fillRect/>
          </a:stretch>
        </p:blipFill>
        <p:spPr bwMode="auto">
          <a:xfrm>
            <a:off x="685800" y="2743200"/>
            <a:ext cx="7620000" cy="294322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Essence of the normalization process</a:t>
            </a:r>
            <a:endParaRPr lang="en-CA" dirty="0"/>
          </a:p>
        </p:txBody>
      </p:sp>
      <p:sp>
        <p:nvSpPr>
          <p:cNvPr id="3" name="Content Placeholder 2"/>
          <p:cNvSpPr>
            <a:spLocks noGrp="1"/>
          </p:cNvSpPr>
          <p:nvPr>
            <p:ph idx="1"/>
          </p:nvPr>
        </p:nvSpPr>
        <p:spPr/>
        <p:txBody>
          <a:bodyPr/>
          <a:lstStyle/>
          <a:p>
            <a:r>
              <a:rPr lang="en-US" dirty="0"/>
              <a:t>Every normalized relation should have a single theme.</a:t>
            </a:r>
          </a:p>
          <a:p>
            <a:r>
              <a:rPr lang="en-US" dirty="0"/>
              <a:t>Any relation having two or more themes should be broken into two or more relations each having a single theme.</a:t>
            </a:r>
          </a:p>
          <a:p>
            <a:r>
              <a:rPr lang="en-US" dirty="0"/>
              <a:t>When you break up a relation you need to check for </a:t>
            </a:r>
            <a:r>
              <a:rPr lang="en-US"/>
              <a:t>and to record </a:t>
            </a:r>
            <a:r>
              <a:rPr lang="en-US" dirty="0"/>
              <a:t>any resulting referential </a:t>
            </a:r>
            <a:r>
              <a:rPr lang="en-US"/>
              <a:t>integrity constraints. </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D473FC75-347F-4EF0-AB9E-CEEF7A4F0B5A}" type="slidenum">
              <a:rPr lang="en-US"/>
              <a:pPr/>
              <a:t>19</a:t>
            </a:fld>
            <a:endParaRPr lang="en-US" dirty="0"/>
          </a:p>
        </p:txBody>
      </p:sp>
      <p:sp>
        <p:nvSpPr>
          <p:cNvPr id="19458" name="Rectangle 2"/>
          <p:cNvSpPr>
            <a:spLocks noGrp="1" noChangeArrowheads="1"/>
          </p:cNvSpPr>
          <p:nvPr>
            <p:ph type="title"/>
          </p:nvPr>
        </p:nvSpPr>
        <p:spPr/>
        <p:txBody>
          <a:bodyPr/>
          <a:lstStyle/>
          <a:p>
            <a:r>
              <a:rPr lang="en-US" dirty="0"/>
              <a:t>Relationship of Normal Forms</a:t>
            </a:r>
          </a:p>
        </p:txBody>
      </p:sp>
      <p:pic>
        <p:nvPicPr>
          <p:cNvPr id="19460" name="Picture 4" descr="FIG_04_07"/>
          <p:cNvPicPr>
            <a:picLocks noChangeAspect="1" noChangeArrowheads="1"/>
          </p:cNvPicPr>
          <p:nvPr/>
        </p:nvPicPr>
        <p:blipFill>
          <a:blip r:embed="rId2" cstate="print"/>
          <a:srcRect/>
          <a:stretch>
            <a:fillRect/>
          </a:stretch>
        </p:blipFill>
        <p:spPr bwMode="auto">
          <a:xfrm>
            <a:off x="609600" y="1752600"/>
            <a:ext cx="7620000" cy="390525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49C0B33B-1843-4E44-A112-81E77880B56C}" type="slidenum">
              <a:rPr lang="en-US"/>
              <a:pPr/>
              <a:t>20</a:t>
            </a:fld>
            <a:endParaRPr lang="en-US" dirty="0"/>
          </a:p>
        </p:txBody>
      </p:sp>
      <p:sp>
        <p:nvSpPr>
          <p:cNvPr id="17410" name="Rectangle 2"/>
          <p:cNvSpPr>
            <a:spLocks noGrp="1" noChangeArrowheads="1"/>
          </p:cNvSpPr>
          <p:nvPr>
            <p:ph type="title" idx="4294967295"/>
          </p:nvPr>
        </p:nvSpPr>
        <p:spPr>
          <a:xfrm>
            <a:off x="228600" y="274638"/>
            <a:ext cx="8229600" cy="1143000"/>
          </a:xfrm>
        </p:spPr>
        <p:txBody>
          <a:bodyPr/>
          <a:lstStyle/>
          <a:p>
            <a:r>
              <a:rPr lang="en-US" dirty="0"/>
              <a:t>Normalization Categories</a:t>
            </a:r>
          </a:p>
        </p:txBody>
      </p:sp>
      <p:pic>
        <p:nvPicPr>
          <p:cNvPr id="17412" name="Picture 4" descr="fig_3-10"/>
          <p:cNvPicPr>
            <a:picLocks noChangeAspect="1" noChangeArrowheads="1"/>
          </p:cNvPicPr>
          <p:nvPr/>
        </p:nvPicPr>
        <p:blipFill>
          <a:blip r:embed="rId2" cstate="print"/>
          <a:srcRect l="9000" t="19146"/>
          <a:stretch>
            <a:fillRect/>
          </a:stretch>
        </p:blipFill>
        <p:spPr bwMode="auto">
          <a:xfrm>
            <a:off x="304800" y="1828800"/>
            <a:ext cx="8382000" cy="3379282"/>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Normal Forms</a:t>
            </a:r>
            <a:endParaRPr lang="en-CA" dirty="0"/>
          </a:p>
        </p:txBody>
      </p:sp>
      <p:sp>
        <p:nvSpPr>
          <p:cNvPr id="4" name="Content Placeholder 3"/>
          <p:cNvSpPr>
            <a:spLocks noGrp="1"/>
          </p:cNvSpPr>
          <p:nvPr>
            <p:ph idx="1"/>
          </p:nvPr>
        </p:nvSpPr>
        <p:spPr/>
        <p:txBody>
          <a:bodyPr/>
          <a:lstStyle/>
          <a:p>
            <a:r>
              <a:rPr lang="en-US" dirty="0"/>
              <a:t>The classes of relations and the techniques for preventing anomalies are called normal forms</a:t>
            </a:r>
            <a:endParaRPr lang="en-CA" dirty="0"/>
          </a:p>
        </p:txBody>
      </p:sp>
      <p:sp>
        <p:nvSpPr>
          <p:cNvPr id="2" name="Slide Number Placeholder 1"/>
          <p:cNvSpPr>
            <a:spLocks noGrp="1"/>
          </p:cNvSpPr>
          <p:nvPr>
            <p:ph type="sldNum" sz="quarter" idx="12"/>
          </p:nvPr>
        </p:nvSpPr>
        <p:spPr/>
        <p:txBody>
          <a:bodyPr/>
          <a:lstStyle/>
          <a:p>
            <a:fld id="{CF461D06-3300-44FE-B299-1E5DF39612FE}"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8330F1-2AF2-44F8-AAAA-914B897CD7DE}" type="slidenum">
              <a:rPr lang="en-US"/>
              <a:pPr/>
              <a:t>22</a:t>
            </a:fld>
            <a:endParaRPr lang="en-US" dirty="0"/>
          </a:p>
        </p:txBody>
      </p:sp>
      <p:sp>
        <p:nvSpPr>
          <p:cNvPr id="28677" name="Rectangle 5"/>
          <p:cNvSpPr>
            <a:spLocks noGrp="1" noChangeArrowheads="1"/>
          </p:cNvSpPr>
          <p:nvPr>
            <p:ph type="title"/>
          </p:nvPr>
        </p:nvSpPr>
        <p:spPr>
          <a:xfrm>
            <a:off x="457200" y="704088"/>
            <a:ext cx="8229600" cy="819912"/>
          </a:xfrm>
        </p:spPr>
        <p:txBody>
          <a:bodyPr/>
          <a:lstStyle/>
          <a:p>
            <a:r>
              <a:rPr lang="en-US" dirty="0"/>
              <a:t>1</a:t>
            </a:r>
            <a:r>
              <a:rPr lang="en-US" baseline="30000" dirty="0"/>
              <a:t>st</a:t>
            </a:r>
            <a:r>
              <a:rPr lang="en-US" dirty="0"/>
              <a:t> Normal Form</a:t>
            </a:r>
          </a:p>
        </p:txBody>
      </p:sp>
      <p:sp>
        <p:nvSpPr>
          <p:cNvPr id="28678" name="Rectangle 6"/>
          <p:cNvSpPr>
            <a:spLocks noGrp="1" noChangeArrowheads="1"/>
          </p:cNvSpPr>
          <p:nvPr>
            <p:ph type="body" idx="1"/>
          </p:nvPr>
        </p:nvSpPr>
        <p:spPr/>
        <p:txBody>
          <a:bodyPr>
            <a:normAutofit lnSpcReduction="10000"/>
          </a:bodyPr>
          <a:lstStyle/>
          <a:p>
            <a:pPr marL="0" indent="0">
              <a:buNone/>
            </a:pPr>
            <a:r>
              <a:rPr lang="en-US" sz="2800" dirty="0"/>
              <a:t>For a table to be in the First Normal Form, it should follow the following 4 rules:</a:t>
            </a:r>
          </a:p>
          <a:p>
            <a:r>
              <a:rPr lang="en-US" sz="2800" dirty="0"/>
              <a:t>It should only have single (atomic) valued attributes/columns.</a:t>
            </a:r>
          </a:p>
          <a:p>
            <a:r>
              <a:rPr lang="en-US" sz="2800" dirty="0"/>
              <a:t>Values stored in a column should be of the same domain.</a:t>
            </a:r>
          </a:p>
          <a:p>
            <a:r>
              <a:rPr lang="en-US" sz="2800" dirty="0"/>
              <a:t>All the columns in a table should have unique names.</a:t>
            </a:r>
          </a:p>
          <a:p>
            <a:r>
              <a:rPr lang="en-US" sz="2800" dirty="0"/>
              <a:t>And the order in which data is stored, does not matter.</a:t>
            </a:r>
          </a:p>
          <a:p>
            <a:pPr>
              <a:buFontTx/>
              <a:buNone/>
            </a:pP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5"/>
          <p:cNvSpPr>
            <a:spLocks noGrp="1"/>
          </p:cNvSpPr>
          <p:nvPr>
            <p:ph type="sldNum" sz="quarter" idx="12"/>
          </p:nvPr>
        </p:nvSpPr>
        <p:spPr/>
        <p:txBody>
          <a:bodyPr/>
          <a:lstStyle/>
          <a:p>
            <a:fld id="{4ACB17E4-5DD3-460F-A2F0-56C08D74EED6}" type="slidenum">
              <a:rPr lang="en-US"/>
              <a:pPr/>
              <a:t>23</a:t>
            </a:fld>
            <a:endParaRPr lang="en-US" dirty="0"/>
          </a:p>
        </p:txBody>
      </p:sp>
      <p:sp>
        <p:nvSpPr>
          <p:cNvPr id="21508" name="Rectangle 4"/>
          <p:cNvSpPr>
            <a:spLocks noGrp="1" noChangeArrowheads="1"/>
          </p:cNvSpPr>
          <p:nvPr>
            <p:ph type="title"/>
          </p:nvPr>
        </p:nvSpPr>
        <p:spPr/>
        <p:txBody>
          <a:bodyPr/>
          <a:lstStyle/>
          <a:p>
            <a:r>
              <a:rPr lang="en-US" dirty="0"/>
              <a:t>Unnormalized Table</a:t>
            </a:r>
          </a:p>
        </p:txBody>
      </p:sp>
      <p:graphicFrame>
        <p:nvGraphicFramePr>
          <p:cNvPr id="21886" name="Group 382"/>
          <p:cNvGraphicFramePr>
            <a:graphicFrameLocks noGrp="1"/>
          </p:cNvGraphicFramePr>
          <p:nvPr>
            <p:ph idx="1"/>
          </p:nvPr>
        </p:nvGraphicFramePr>
        <p:xfrm>
          <a:off x="457200" y="1600200"/>
          <a:ext cx="8229600" cy="4297363"/>
        </p:xfrm>
        <a:graphic>
          <a:graphicData uri="http://schemas.openxmlformats.org/drawingml/2006/table">
            <a:tbl>
              <a:tblPr/>
              <a:tblGrid>
                <a:gridCol w="2243138">
                  <a:extLst>
                    <a:ext uri="{9D8B030D-6E8A-4147-A177-3AD203B41FA5}">
                      <a16:colId xmlns:a16="http://schemas.microsoft.com/office/drawing/2014/main" val="20000"/>
                    </a:ext>
                  </a:extLst>
                </a:gridCol>
                <a:gridCol w="1685925">
                  <a:extLst>
                    <a:ext uri="{9D8B030D-6E8A-4147-A177-3AD203B41FA5}">
                      <a16:colId xmlns:a16="http://schemas.microsoft.com/office/drawing/2014/main" val="20001"/>
                    </a:ext>
                  </a:extLst>
                </a:gridCol>
                <a:gridCol w="4300537">
                  <a:extLst>
                    <a:ext uri="{9D8B030D-6E8A-4147-A177-3AD203B41FA5}">
                      <a16:colId xmlns:a16="http://schemas.microsoft.com/office/drawing/2014/main" val="20002"/>
                    </a:ext>
                  </a:extLst>
                </a:gridCol>
              </a:tblGrid>
              <a:tr h="5715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Character</a:t>
                      </a:r>
                      <a:endParaRPr kumimoji="0" lang="en-US" sz="20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Animal</a:t>
                      </a:r>
                      <a:endParaRPr kumimoji="0" lang="en-US" sz="20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Info</a:t>
                      </a:r>
                      <a:endParaRPr kumimoji="0" lang="en-US" sz="20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89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Alex</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Lion</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Born into a life of privilege. </a:t>
                      </a:r>
                      <a:r>
                        <a:rPr kumimoji="0" lang="en-US" sz="1800" b="1" i="0" u="none" strike="noStrike" kern="1200" cap="none" normalizeH="0" baseline="0" dirty="0">
                          <a:ln>
                            <a:noFill/>
                          </a:ln>
                          <a:solidFill>
                            <a:schemeClr val="tx1"/>
                          </a:solidFill>
                          <a:effectLst/>
                          <a:latin typeface="Times New Roman" pitchFamily="18" charset="0"/>
                          <a:ea typeface="+mn-ea"/>
                          <a:cs typeface="Times New Roman" pitchFamily="18" charset="0"/>
                        </a:rPr>
                        <a:t>Now lives at Central Park Zoo</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The star in the Greatest city on earth.</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525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Gloria</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Hippo</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Born and raised in Central Park Zoo.</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Strikingly beautiful, smart &amp; independent.</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699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Melman</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Giraffe</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kern="1200" cap="none" normalizeH="0" baseline="0" dirty="0">
                          <a:ln>
                            <a:noFill/>
                          </a:ln>
                          <a:solidFill>
                            <a:schemeClr val="tx1"/>
                          </a:solidFill>
                          <a:effectLst/>
                          <a:latin typeface="Times New Roman" pitchFamily="18" charset="0"/>
                          <a:ea typeface="+mn-ea"/>
                          <a:cs typeface="Times New Roman" pitchFamily="18" charset="0"/>
                        </a:rPr>
                        <a:t>Born in San Diago Zoo &amp; transferred to Central Park Zoo as a young adult.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He is a hypochondriac.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89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Marty</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Zebra</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Born at the Central Park Zoo.</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Times New Roman" pitchFamily="18" charset="0"/>
                          <a:cs typeface="Times New Roman" pitchFamily="18" charset="0"/>
                        </a:rPr>
                        <a:t>He is a dreamer and an adventurer.</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5"/>
          <p:cNvSpPr>
            <a:spLocks noGrp="1"/>
          </p:cNvSpPr>
          <p:nvPr>
            <p:ph type="sldNum" sz="quarter" idx="12"/>
          </p:nvPr>
        </p:nvSpPr>
        <p:spPr/>
        <p:txBody>
          <a:bodyPr/>
          <a:lstStyle/>
          <a:p>
            <a:fld id="{4B85D93A-D6AA-4CC5-8A3A-69438CC9BED7}" type="slidenum">
              <a:rPr lang="en-US"/>
              <a:pPr/>
              <a:t>24</a:t>
            </a:fld>
            <a:endParaRPr lang="en-US" dirty="0"/>
          </a:p>
        </p:txBody>
      </p:sp>
      <p:sp>
        <p:nvSpPr>
          <p:cNvPr id="23556" name="Rectangle 4"/>
          <p:cNvSpPr>
            <a:spLocks noGrp="1" noChangeArrowheads="1"/>
          </p:cNvSpPr>
          <p:nvPr>
            <p:ph type="title"/>
          </p:nvPr>
        </p:nvSpPr>
        <p:spPr/>
        <p:txBody>
          <a:bodyPr/>
          <a:lstStyle/>
          <a:p>
            <a:r>
              <a:rPr lang="en-US" dirty="0"/>
              <a:t>Relation</a:t>
            </a:r>
          </a:p>
        </p:txBody>
      </p:sp>
      <p:graphicFrame>
        <p:nvGraphicFramePr>
          <p:cNvPr id="23702" name="Group 150"/>
          <p:cNvGraphicFramePr>
            <a:graphicFrameLocks noGrp="1"/>
          </p:cNvGraphicFramePr>
          <p:nvPr>
            <p:ph type="tbl" idx="1"/>
          </p:nvPr>
        </p:nvGraphicFramePr>
        <p:xfrm>
          <a:off x="457200" y="1600200"/>
          <a:ext cx="8229600" cy="4861560"/>
        </p:xfrm>
        <a:graphic>
          <a:graphicData uri="http://schemas.openxmlformats.org/drawingml/2006/table">
            <a:tbl>
              <a:tblPr/>
              <a:tblGrid>
                <a:gridCol w="1044054">
                  <a:extLst>
                    <a:ext uri="{9D8B030D-6E8A-4147-A177-3AD203B41FA5}">
                      <a16:colId xmlns:a16="http://schemas.microsoft.com/office/drawing/2014/main" val="20000"/>
                    </a:ext>
                  </a:extLst>
                </a:gridCol>
                <a:gridCol w="921224">
                  <a:extLst>
                    <a:ext uri="{9D8B030D-6E8A-4147-A177-3AD203B41FA5}">
                      <a16:colId xmlns:a16="http://schemas.microsoft.com/office/drawing/2014/main" val="20001"/>
                    </a:ext>
                  </a:extLst>
                </a:gridCol>
                <a:gridCol w="1463722">
                  <a:extLst>
                    <a:ext uri="{9D8B030D-6E8A-4147-A177-3AD203B41FA5}">
                      <a16:colId xmlns:a16="http://schemas.microsoft.com/office/drawing/2014/main" val="20002"/>
                    </a:ext>
                  </a:extLst>
                </a:gridCol>
                <a:gridCol w="1729854">
                  <a:extLst>
                    <a:ext uri="{9D8B030D-6E8A-4147-A177-3AD203B41FA5}">
                      <a16:colId xmlns:a16="http://schemas.microsoft.com/office/drawing/2014/main" val="20003"/>
                    </a:ext>
                  </a:extLst>
                </a:gridCol>
                <a:gridCol w="3070746">
                  <a:extLst>
                    <a:ext uri="{9D8B030D-6E8A-4147-A177-3AD203B41FA5}">
                      <a16:colId xmlns:a16="http://schemas.microsoft.com/office/drawing/2014/main" val="20004"/>
                    </a:ext>
                  </a:extLst>
                </a:gridCol>
              </a:tblGrid>
              <a:tr h="5334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Character</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Animal</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PlaceBorn</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err="1">
                          <a:ln>
                            <a:noFill/>
                          </a:ln>
                          <a:solidFill>
                            <a:schemeClr val="tx1"/>
                          </a:solidFill>
                          <a:effectLst/>
                          <a:latin typeface="Times New Roman" pitchFamily="18" charset="0"/>
                          <a:cs typeface="Times New Roman" pitchFamily="18" charset="0"/>
                        </a:rPr>
                        <a:t>CurrentResidence</a:t>
                      </a:r>
                      <a:endParaRPr kumimoji="0" lang="en-US" sz="1600" b="1" i="1" u="none" strike="noStrike" cap="none" normalizeH="0" baseline="0" dirty="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1" i="1" u="none" strike="noStrike" cap="none" normalizeH="0" baseline="0" dirty="0">
                          <a:ln>
                            <a:noFill/>
                          </a:ln>
                          <a:solidFill>
                            <a:schemeClr val="tx1"/>
                          </a:solidFill>
                          <a:effectLst/>
                          <a:latin typeface="Times New Roman" pitchFamily="18" charset="0"/>
                          <a:cs typeface="Times New Roman" pitchFamily="18" charset="0"/>
                        </a:rPr>
                        <a:t>CharacterTraits</a:t>
                      </a:r>
                      <a:endParaRPr kumimoji="0" lang="en-US" sz="16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Alex</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Lion</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The star in the Greatest city on earth.</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58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Gloria</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Hippo</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strikingly beautiful</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8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Gloria</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Hippo</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smart</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58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Gloria</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Hippo</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independent</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Melman</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Giraffe</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San Diago Zoo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p>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Times New Roman" pitchFamily="18" charset="0"/>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hypochondriac</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9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Marty</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Zebra</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dreamer</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09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Marty</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Zebra</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Central Park Zoo</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adventurer</a:t>
                      </a:r>
                      <a:endParaRPr kumimoji="0" lang="en-U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3E54D8F-C108-4A60-B37F-664A128238DB}" type="slidenum">
              <a:rPr lang="en-US"/>
              <a:pPr/>
              <a:t>25</a:t>
            </a:fld>
            <a:endParaRPr lang="en-US" dirty="0"/>
          </a:p>
        </p:txBody>
      </p:sp>
      <p:sp>
        <p:nvSpPr>
          <p:cNvPr id="30722" name="Rectangle 2"/>
          <p:cNvSpPr>
            <a:spLocks noGrp="1" noChangeArrowheads="1"/>
          </p:cNvSpPr>
          <p:nvPr>
            <p:ph type="title"/>
          </p:nvPr>
        </p:nvSpPr>
        <p:spPr/>
        <p:txBody>
          <a:bodyPr/>
          <a:lstStyle/>
          <a:p>
            <a:r>
              <a:rPr lang="en-US" dirty="0"/>
              <a:t>2NF and 3NF</a:t>
            </a:r>
          </a:p>
        </p:txBody>
      </p:sp>
      <p:sp>
        <p:nvSpPr>
          <p:cNvPr id="30723" name="Rectangle 3"/>
          <p:cNvSpPr>
            <a:spLocks noGrp="1" noChangeArrowheads="1"/>
          </p:cNvSpPr>
          <p:nvPr>
            <p:ph type="body" idx="1"/>
          </p:nvPr>
        </p:nvSpPr>
        <p:spPr/>
        <p:txBody>
          <a:bodyPr/>
          <a:lstStyle/>
          <a:p>
            <a:r>
              <a:rPr lang="en-US" dirty="0"/>
              <a:t>2NF and 3NF deal with the relationship between non-key and key fields.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3B3EADA-BFCD-44B9-A333-8FD193916E7D}" type="slidenum">
              <a:rPr lang="en-US"/>
              <a:pPr/>
              <a:t>26</a:t>
            </a:fld>
            <a:endParaRPr lang="en-US" dirty="0"/>
          </a:p>
        </p:txBody>
      </p:sp>
      <p:sp>
        <p:nvSpPr>
          <p:cNvPr id="31746" name="Rectangle 2"/>
          <p:cNvSpPr>
            <a:spLocks noGrp="1" noChangeArrowheads="1"/>
          </p:cNvSpPr>
          <p:nvPr>
            <p:ph type="title"/>
          </p:nvPr>
        </p:nvSpPr>
        <p:spPr/>
        <p:txBody>
          <a:bodyPr/>
          <a:lstStyle/>
          <a:p>
            <a:r>
              <a:rPr lang="en-US" dirty="0"/>
              <a:t>2</a:t>
            </a:r>
            <a:r>
              <a:rPr lang="en-US" baseline="30000" dirty="0"/>
              <a:t>nd</a:t>
            </a:r>
            <a:r>
              <a:rPr lang="en-US" dirty="0"/>
              <a:t> Normal Form</a:t>
            </a:r>
          </a:p>
        </p:txBody>
      </p:sp>
      <p:sp>
        <p:nvSpPr>
          <p:cNvPr id="31747" name="Rectangle 3"/>
          <p:cNvSpPr>
            <a:spLocks noGrp="1" noChangeArrowheads="1"/>
          </p:cNvSpPr>
          <p:nvPr>
            <p:ph type="body" idx="1"/>
          </p:nvPr>
        </p:nvSpPr>
        <p:spPr/>
        <p:txBody>
          <a:bodyPr>
            <a:normAutofit/>
          </a:bodyPr>
          <a:lstStyle/>
          <a:p>
            <a:pPr>
              <a:lnSpc>
                <a:spcPct val="90000"/>
              </a:lnSpc>
              <a:buFontTx/>
              <a:buNone/>
            </a:pPr>
            <a:r>
              <a:rPr lang="en-US" b="1" dirty="0"/>
              <a:t>	A relation is in second normal form if it is in 1NF and every non-key attribute is fully dependent on the whole key, not just part of it.</a:t>
            </a:r>
            <a:r>
              <a:rPr lang="en-US" dirty="0"/>
              <a:t> </a:t>
            </a:r>
          </a:p>
          <a:p>
            <a:pPr>
              <a:lnSpc>
                <a:spcPct val="90000"/>
              </a:lnSpc>
              <a:buFontTx/>
              <a:buNone/>
            </a:pPr>
            <a:endParaRPr lang="en-US" dirty="0"/>
          </a:p>
          <a:p>
            <a:pPr>
              <a:lnSpc>
                <a:spcPct val="90000"/>
              </a:lnSpc>
            </a:pPr>
            <a:r>
              <a:rPr lang="en-US" dirty="0"/>
              <a:t>2NF is designed to eliminate dependencies that involve only part of the key.</a:t>
            </a:r>
          </a:p>
          <a:p>
            <a:pPr>
              <a:lnSpc>
                <a:spcPct val="90000"/>
              </a:lnSpc>
            </a:pPr>
            <a:r>
              <a:rPr lang="en-US" dirty="0"/>
              <a:t>2NF is violated when a non-key field is determined by only part of the key.</a:t>
            </a:r>
          </a:p>
          <a:p>
            <a:pPr>
              <a:lnSpc>
                <a:spcPct val="90000"/>
              </a:lnSpc>
            </a:pPr>
            <a:r>
              <a:rPr lang="en-US" dirty="0"/>
              <a:t>There are no 2NF violations if the key is not composite.</a:t>
            </a:r>
          </a:p>
          <a:p>
            <a:pPr>
              <a:lnSpc>
                <a:spcPct val="90000"/>
              </a:lnSpc>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2NF</a:t>
            </a:r>
            <a:endParaRPr lang="en-CA" dirty="0"/>
          </a:p>
        </p:txBody>
      </p:sp>
      <p:sp>
        <p:nvSpPr>
          <p:cNvPr id="3" name="Content Placeholder 2"/>
          <p:cNvSpPr>
            <a:spLocks noGrp="1"/>
          </p:cNvSpPr>
          <p:nvPr>
            <p:ph idx="1"/>
          </p:nvPr>
        </p:nvSpPr>
        <p:spPr/>
        <p:txBody>
          <a:bodyPr/>
          <a:lstStyle/>
          <a:p>
            <a:pPr>
              <a:lnSpc>
                <a:spcPct val="90000"/>
              </a:lnSpc>
            </a:pPr>
            <a:r>
              <a:rPr lang="en-US" dirty="0"/>
              <a:t>The relation Relation1(</a:t>
            </a:r>
            <a:r>
              <a:rPr lang="en-US" u="sng" dirty="0"/>
              <a:t>A,B</a:t>
            </a:r>
            <a:r>
              <a:rPr lang="en-US" dirty="0"/>
              <a:t>,C,D) where B</a:t>
            </a:r>
            <a:r>
              <a:rPr lang="en-US" dirty="0">
                <a:sym typeface="Wingdings" pitchFamily="2" charset="2"/>
              </a:rPr>
              <a:t></a:t>
            </a:r>
            <a:r>
              <a:rPr lang="en-US" dirty="0"/>
              <a:t>C becomes Relation1(</a:t>
            </a:r>
            <a:r>
              <a:rPr lang="en-US" u="sng" dirty="0"/>
              <a:t>A,B</a:t>
            </a:r>
            <a:r>
              <a:rPr lang="en-US" dirty="0"/>
              <a:t>,D) and Relation2(</a:t>
            </a:r>
            <a:r>
              <a:rPr lang="en-US" u="sng" dirty="0"/>
              <a:t>B</a:t>
            </a:r>
            <a:r>
              <a:rPr lang="en-US" dirty="0"/>
              <a:t>,C)</a:t>
            </a:r>
          </a:p>
          <a:p>
            <a:pPr>
              <a:lnSpc>
                <a:spcPct val="90000"/>
              </a:lnSpc>
              <a:buNone/>
            </a:pPr>
            <a:endParaRPr lang="en-US" dirty="0"/>
          </a:p>
          <a:p>
            <a:pPr>
              <a:lnSpc>
                <a:spcPct val="90000"/>
              </a:lnSpc>
            </a:pPr>
            <a:r>
              <a:rPr lang="en-US" dirty="0"/>
              <a:t>To place the relation in 2NF: </a:t>
            </a:r>
          </a:p>
          <a:p>
            <a:pPr lvl="1">
              <a:lnSpc>
                <a:spcPct val="90000"/>
              </a:lnSpc>
            </a:pPr>
            <a:r>
              <a:rPr lang="en-US" dirty="0"/>
              <a:t>remove the functional dependency involving only part of the key and place in a relation of its own. The determinate will become the PK of the new relation and the FK connection to the original relation</a:t>
            </a:r>
          </a:p>
          <a:p>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DD318BF-777A-4CB7-8872-54EBCFA8AC90}" type="slidenum">
              <a:rPr lang="en-US"/>
              <a:pPr/>
              <a:t>28</a:t>
            </a:fld>
            <a:endParaRPr lang="en-US" dirty="0"/>
          </a:p>
        </p:txBody>
      </p:sp>
      <p:sp>
        <p:nvSpPr>
          <p:cNvPr id="32770" name="Rectangle 2"/>
          <p:cNvSpPr>
            <a:spLocks noGrp="1" noChangeArrowheads="1"/>
          </p:cNvSpPr>
          <p:nvPr>
            <p:ph type="title"/>
          </p:nvPr>
        </p:nvSpPr>
        <p:spPr/>
        <p:txBody>
          <a:bodyPr/>
          <a:lstStyle/>
          <a:p>
            <a:r>
              <a:rPr lang="en-US" dirty="0"/>
              <a:t>3</a:t>
            </a:r>
            <a:r>
              <a:rPr lang="en-US" baseline="30000" dirty="0"/>
              <a:t>rd</a:t>
            </a:r>
            <a:r>
              <a:rPr lang="en-US" dirty="0"/>
              <a:t> Normal Form</a:t>
            </a:r>
          </a:p>
        </p:txBody>
      </p:sp>
      <p:sp>
        <p:nvSpPr>
          <p:cNvPr id="32771" name="Rectangle 3"/>
          <p:cNvSpPr>
            <a:spLocks noGrp="1" noChangeArrowheads="1"/>
          </p:cNvSpPr>
          <p:nvPr>
            <p:ph type="body" idx="1"/>
          </p:nvPr>
        </p:nvSpPr>
        <p:spPr/>
        <p:txBody>
          <a:bodyPr/>
          <a:lstStyle/>
          <a:p>
            <a:pPr>
              <a:buFontTx/>
              <a:buNone/>
            </a:pPr>
            <a:r>
              <a:rPr lang="en-US" b="1" dirty="0"/>
              <a:t>	For a table to be </a:t>
            </a:r>
            <a:r>
              <a:rPr lang="en-US" b="1"/>
              <a:t>in 3NF </a:t>
            </a:r>
            <a:r>
              <a:rPr lang="en-US" b="1" dirty="0"/>
              <a:t>it must be in 2NF and every non-key attribute has no transitive dependencies.</a:t>
            </a:r>
          </a:p>
          <a:p>
            <a:pPr>
              <a:buFontTx/>
              <a:buNone/>
            </a:pPr>
            <a:endParaRPr lang="en-US" b="1" dirty="0"/>
          </a:p>
          <a:p>
            <a:r>
              <a:rPr lang="en-US" dirty="0"/>
              <a:t>A transitive dependency is when a key attribute determines a non-key attribute and in turn this non-key attribute determines another non-key attribute,  </a:t>
            </a:r>
            <a:r>
              <a:rPr lang="en-US" u="sng" dirty="0"/>
              <a:t>A</a:t>
            </a:r>
            <a:r>
              <a:rPr lang="en-US" dirty="0">
                <a:sym typeface="Wingdings" pitchFamily="2" charset="2"/>
              </a:rPr>
              <a:t>BC</a:t>
            </a:r>
          </a:p>
          <a:p>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place in 3NF</a:t>
            </a:r>
            <a:endParaRPr lang="en-CA" dirty="0"/>
          </a:p>
        </p:txBody>
      </p:sp>
      <p:sp>
        <p:nvSpPr>
          <p:cNvPr id="3" name="Content Placeholder 2"/>
          <p:cNvSpPr>
            <a:spLocks noGrp="1"/>
          </p:cNvSpPr>
          <p:nvPr>
            <p:ph idx="1"/>
          </p:nvPr>
        </p:nvSpPr>
        <p:spPr/>
        <p:txBody>
          <a:bodyPr/>
          <a:lstStyle/>
          <a:p>
            <a:r>
              <a:rPr lang="en-US" dirty="0"/>
              <a:t>Move the non-key determinate and its dependant attributes to a new table and form a relationship between the original table and the new table.</a:t>
            </a:r>
          </a:p>
          <a:p>
            <a:pPr>
              <a:buNone/>
            </a:pPr>
            <a:endParaRPr lang="en-US" dirty="0"/>
          </a:p>
          <a:p>
            <a:r>
              <a:rPr lang="en-US" dirty="0"/>
              <a:t>The relation – Relation(</a:t>
            </a:r>
            <a:r>
              <a:rPr lang="en-US" u="sng" dirty="0"/>
              <a:t>A</a:t>
            </a:r>
            <a:r>
              <a:rPr lang="en-US" dirty="0"/>
              <a:t>, B, C, D) where A</a:t>
            </a:r>
            <a:r>
              <a:rPr lang="en-US" dirty="0">
                <a:sym typeface="Wingdings" pitchFamily="2" charset="2"/>
              </a:rPr>
              <a:t>B, C, D and CD becomes Relation1(</a:t>
            </a:r>
            <a:r>
              <a:rPr lang="en-US" u="sng" dirty="0"/>
              <a:t>A</a:t>
            </a:r>
            <a:r>
              <a:rPr lang="en-US" dirty="0"/>
              <a:t>, B, C) and Relation2(</a:t>
            </a:r>
            <a:r>
              <a:rPr lang="en-US" u="sng" dirty="0"/>
              <a:t>C</a:t>
            </a:r>
            <a:r>
              <a:rPr lang="en-US" dirty="0"/>
              <a:t>, D)</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3NF Violation</a:t>
            </a:r>
            <a:endParaRPr lang="en-CA" dirty="0"/>
          </a:p>
        </p:txBody>
      </p:sp>
      <p:sp>
        <p:nvSpPr>
          <p:cNvPr id="5" name="Slide Number Placeholder 3"/>
          <p:cNvSpPr>
            <a:spLocks noGrp="1"/>
          </p:cNvSpPr>
          <p:nvPr>
            <p:ph type="sldNum" sz="quarter" idx="12"/>
          </p:nvPr>
        </p:nvSpPr>
        <p:spPr/>
        <p:txBody>
          <a:bodyPr/>
          <a:lstStyle/>
          <a:p>
            <a:fld id="{B5ABF735-0A37-493F-BADC-92930DB4DEE0}" type="slidenum">
              <a:rPr lang="en-US"/>
              <a:pPr/>
              <a:t>30</a:t>
            </a:fld>
            <a:endParaRPr lang="en-US" dirty="0"/>
          </a:p>
        </p:txBody>
      </p:sp>
      <p:pic>
        <p:nvPicPr>
          <p:cNvPr id="35844" name="Picture 4" descr="FIG_04_09a"/>
          <p:cNvPicPr>
            <a:picLocks noChangeAspect="1" noChangeArrowheads="1"/>
          </p:cNvPicPr>
          <p:nvPr/>
        </p:nvPicPr>
        <p:blipFill>
          <a:blip r:embed="rId2" cstate="print"/>
          <a:srcRect t="23333" b="10000"/>
          <a:stretch>
            <a:fillRect/>
          </a:stretch>
        </p:blipFill>
        <p:spPr bwMode="auto">
          <a:xfrm>
            <a:off x="1219200" y="2057400"/>
            <a:ext cx="4438650" cy="3810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Relations in 3NF</a:t>
            </a:r>
            <a:endParaRPr lang="en-CA" dirty="0"/>
          </a:p>
        </p:txBody>
      </p:sp>
      <p:sp>
        <p:nvSpPr>
          <p:cNvPr id="6" name="Content Placeholder 5"/>
          <p:cNvSpPr>
            <a:spLocks noGrp="1"/>
          </p:cNvSpPr>
          <p:nvPr>
            <p:ph idx="1"/>
          </p:nvPr>
        </p:nvSpPr>
        <p:spPr/>
        <p:txBody>
          <a:bodyPr/>
          <a:lstStyle/>
          <a:p>
            <a:r>
              <a:rPr lang="en-US" dirty="0"/>
              <a:t>Eliminate transitive dependencies</a:t>
            </a:r>
            <a:endParaRPr lang="en-CA" dirty="0"/>
          </a:p>
        </p:txBody>
      </p:sp>
      <p:sp>
        <p:nvSpPr>
          <p:cNvPr id="5" name="Slide Number Placeholder 3"/>
          <p:cNvSpPr>
            <a:spLocks noGrp="1"/>
          </p:cNvSpPr>
          <p:nvPr>
            <p:ph type="sldNum" sz="quarter" idx="12"/>
          </p:nvPr>
        </p:nvSpPr>
        <p:spPr/>
        <p:txBody>
          <a:bodyPr/>
          <a:lstStyle/>
          <a:p>
            <a:fld id="{4C39EADA-ECD6-44A1-B83E-688869190F74}" type="slidenum">
              <a:rPr lang="en-US"/>
              <a:pPr/>
              <a:t>31</a:t>
            </a:fld>
            <a:endParaRPr lang="en-US" dirty="0"/>
          </a:p>
        </p:txBody>
      </p:sp>
      <p:pic>
        <p:nvPicPr>
          <p:cNvPr id="36868" name="Picture 4" descr="FIG_04_09b"/>
          <p:cNvPicPr>
            <a:picLocks noChangeAspect="1" noChangeArrowheads="1"/>
          </p:cNvPicPr>
          <p:nvPr/>
        </p:nvPicPr>
        <p:blipFill>
          <a:blip r:embed="rId2" cstate="print"/>
          <a:srcRect t="21608" b="11587"/>
          <a:stretch>
            <a:fillRect/>
          </a:stretch>
        </p:blipFill>
        <p:spPr bwMode="auto">
          <a:xfrm>
            <a:off x="685800" y="2971800"/>
            <a:ext cx="7620000" cy="30480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dirty="0"/>
              <a:t>Boyce-Codd Normal Form</a:t>
            </a:r>
          </a:p>
        </p:txBody>
      </p:sp>
      <p:sp>
        <p:nvSpPr>
          <p:cNvPr id="33795" name="Rectangle 3"/>
          <p:cNvSpPr>
            <a:spLocks noGrp="1" noChangeArrowheads="1"/>
          </p:cNvSpPr>
          <p:nvPr>
            <p:ph idx="1"/>
          </p:nvPr>
        </p:nvSpPr>
        <p:spPr/>
        <p:txBody>
          <a:bodyPr/>
          <a:lstStyle/>
          <a:p>
            <a:pPr>
              <a:buFontTx/>
              <a:buNone/>
            </a:pPr>
            <a:r>
              <a:rPr lang="en-US" b="1" dirty="0"/>
              <a:t>	A relation in BCNF must be in 3NF and every determinant is a candidate key.</a:t>
            </a:r>
          </a:p>
          <a:p>
            <a:pPr>
              <a:buFontTx/>
              <a:buNone/>
            </a:pPr>
            <a:endParaRPr lang="en-US" b="1" dirty="0"/>
          </a:p>
          <a:p>
            <a:r>
              <a:rPr lang="en-US" dirty="0"/>
              <a:t>BCNF is a slightly stronger version of 3NF.</a:t>
            </a:r>
          </a:p>
          <a:p>
            <a:r>
              <a:rPr lang="en-US" dirty="0"/>
              <a:t>Only in rare cases does a 3NF table not meet the requirements of BCNF. A 3NF table which does not have multiple overlapping candidate keys is guaranteed to be in BCNF.</a:t>
            </a:r>
            <a:endParaRPr lang="en-US" b="1" dirty="0"/>
          </a:p>
          <a:p>
            <a:pPr>
              <a:buFontTx/>
              <a:buNone/>
            </a:pPr>
            <a:endParaRPr lang="en-US" b="1" dirty="0"/>
          </a:p>
        </p:txBody>
      </p:sp>
      <p:sp>
        <p:nvSpPr>
          <p:cNvPr id="6" name="Slide Number Placeholder 5"/>
          <p:cNvSpPr>
            <a:spLocks noGrp="1"/>
          </p:cNvSpPr>
          <p:nvPr>
            <p:ph type="sldNum" sz="quarter" idx="12"/>
          </p:nvPr>
        </p:nvSpPr>
        <p:spPr/>
        <p:txBody>
          <a:bodyPr/>
          <a:lstStyle/>
          <a:p>
            <a:fld id="{ACA27A3B-DB40-47D7-A94A-151653CE0CF1}" type="slidenum">
              <a:rPr lang="en-US"/>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BCNF</a:t>
            </a:r>
            <a:endParaRPr lang="en-CA" dirty="0"/>
          </a:p>
        </p:txBody>
      </p:sp>
      <p:sp>
        <p:nvSpPr>
          <p:cNvPr id="3" name="Content Placeholder 2"/>
          <p:cNvSpPr>
            <a:spLocks noGrp="1"/>
          </p:cNvSpPr>
          <p:nvPr>
            <p:ph idx="1"/>
          </p:nvPr>
        </p:nvSpPr>
        <p:spPr/>
        <p:txBody>
          <a:bodyPr/>
          <a:lstStyle/>
          <a:p>
            <a:r>
              <a:rPr lang="en-US" dirty="0"/>
              <a:t>BCNF covers 2 special cases not covered by 3NF</a:t>
            </a:r>
          </a:p>
          <a:p>
            <a:pPr marL="850392" lvl="1" indent="-457200">
              <a:buFont typeface="+mj-lt"/>
              <a:buAutoNum type="arabicPeriod"/>
            </a:pPr>
            <a:r>
              <a:rPr lang="en-US" dirty="0"/>
              <a:t>part of a key determines part of a key</a:t>
            </a:r>
          </a:p>
          <a:p>
            <a:pPr marL="850392" lvl="1" indent="-457200">
              <a:buFont typeface="+mj-lt"/>
              <a:buAutoNum type="arabicPeriod"/>
            </a:pPr>
            <a:r>
              <a:rPr lang="en-US" dirty="0"/>
              <a:t>a non-key attribute determines part of a key</a:t>
            </a:r>
          </a:p>
          <a:p>
            <a:pPr marL="850392" lvl="1" indent="-457200">
              <a:buFont typeface="+mj-lt"/>
              <a:buAutoNum type="arabicPeriod"/>
            </a:pPr>
            <a:endParaRPr lang="en-US" dirty="0"/>
          </a:p>
          <a:p>
            <a:pPr marL="484632" indent="-457200"/>
            <a:r>
              <a:rPr lang="en-US" dirty="0"/>
              <a:t>These situations are only possible if there are multiple composite, candidate keys. Tables with multiple, composite candidate keys are not common.</a:t>
            </a:r>
            <a:endParaRPr lang="en-CA"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Violates BCNF</a:t>
            </a:r>
            <a:endParaRPr lang="en-CA" dirty="0"/>
          </a:p>
        </p:txBody>
      </p:sp>
      <p:sp>
        <p:nvSpPr>
          <p:cNvPr id="5" name="Slide Number Placeholder 3"/>
          <p:cNvSpPr>
            <a:spLocks noGrp="1"/>
          </p:cNvSpPr>
          <p:nvPr>
            <p:ph type="sldNum" sz="quarter" idx="12"/>
          </p:nvPr>
        </p:nvSpPr>
        <p:spPr/>
        <p:txBody>
          <a:bodyPr/>
          <a:lstStyle/>
          <a:p>
            <a:fld id="{AF90D022-1E00-4649-B567-0E7BF70650DB}" type="slidenum">
              <a:rPr lang="en-US"/>
              <a:pPr/>
              <a:t>34</a:t>
            </a:fld>
            <a:endParaRPr lang="en-US" dirty="0"/>
          </a:p>
        </p:txBody>
      </p:sp>
      <p:pic>
        <p:nvPicPr>
          <p:cNvPr id="38916" name="Picture 4" descr="FIG_04_10a"/>
          <p:cNvPicPr>
            <a:picLocks noChangeAspect="1" noChangeArrowheads="1"/>
          </p:cNvPicPr>
          <p:nvPr/>
        </p:nvPicPr>
        <p:blipFill>
          <a:blip r:embed="rId2" cstate="print"/>
          <a:srcRect t="23414" b="8912"/>
          <a:stretch>
            <a:fillRect/>
          </a:stretch>
        </p:blipFill>
        <p:spPr bwMode="auto">
          <a:xfrm>
            <a:off x="2438400" y="1752600"/>
            <a:ext cx="4200525" cy="42672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Relation in BCNF</a:t>
            </a:r>
            <a:endParaRPr lang="en-CA" dirty="0"/>
          </a:p>
        </p:txBody>
      </p:sp>
      <p:sp>
        <p:nvSpPr>
          <p:cNvPr id="5" name="Slide Number Placeholder 3"/>
          <p:cNvSpPr>
            <a:spLocks noGrp="1"/>
          </p:cNvSpPr>
          <p:nvPr>
            <p:ph type="sldNum" sz="quarter" idx="12"/>
          </p:nvPr>
        </p:nvSpPr>
        <p:spPr/>
        <p:txBody>
          <a:bodyPr/>
          <a:lstStyle/>
          <a:p>
            <a:fld id="{41EC82E3-AE7F-4C59-82AD-ACE3CEF38CFE}" type="slidenum">
              <a:rPr lang="en-US"/>
              <a:pPr/>
              <a:t>35</a:t>
            </a:fld>
            <a:endParaRPr lang="en-US" dirty="0"/>
          </a:p>
        </p:txBody>
      </p:sp>
      <p:pic>
        <p:nvPicPr>
          <p:cNvPr id="39938" name="Picture 2" descr="FIG_04_10b"/>
          <p:cNvPicPr>
            <a:picLocks noChangeAspect="1" noChangeArrowheads="1"/>
          </p:cNvPicPr>
          <p:nvPr/>
        </p:nvPicPr>
        <p:blipFill>
          <a:blip r:embed="rId2" cstate="print"/>
          <a:srcRect t="23184" b="11266"/>
          <a:stretch>
            <a:fillRect/>
          </a:stretch>
        </p:blipFill>
        <p:spPr bwMode="auto">
          <a:xfrm>
            <a:off x="762000" y="2133600"/>
            <a:ext cx="7620000" cy="33528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E9FABE5-5EFB-489C-83E5-F0D49CE6362E}" type="slidenum">
              <a:rPr lang="en-US"/>
              <a:pPr/>
              <a:t>36</a:t>
            </a:fld>
            <a:endParaRPr lang="en-US" dirty="0"/>
          </a:p>
        </p:txBody>
      </p:sp>
      <p:sp>
        <p:nvSpPr>
          <p:cNvPr id="40962" name="Rectangle 2"/>
          <p:cNvSpPr>
            <a:spLocks noGrp="1" noChangeArrowheads="1"/>
          </p:cNvSpPr>
          <p:nvPr>
            <p:ph type="title"/>
          </p:nvPr>
        </p:nvSpPr>
        <p:spPr/>
        <p:txBody>
          <a:bodyPr/>
          <a:lstStyle/>
          <a:p>
            <a:r>
              <a:rPr lang="en-US" dirty="0"/>
              <a:t>BCNF</a:t>
            </a:r>
          </a:p>
        </p:txBody>
      </p:sp>
      <p:sp>
        <p:nvSpPr>
          <p:cNvPr id="40963" name="Rectangle 3"/>
          <p:cNvSpPr>
            <a:spLocks noGrp="1" noChangeArrowheads="1"/>
          </p:cNvSpPr>
          <p:nvPr>
            <p:ph type="body" idx="1"/>
          </p:nvPr>
        </p:nvSpPr>
        <p:spPr/>
        <p:txBody>
          <a:bodyPr/>
          <a:lstStyle/>
          <a:p>
            <a:pPr>
              <a:lnSpc>
                <a:spcPct val="90000"/>
              </a:lnSpc>
            </a:pPr>
            <a:r>
              <a:rPr lang="en-US" sz="2400" dirty="0"/>
              <a:t>Relations in BCNF have no functional dependency anomalies.  However there are anomalies that can rise from other situations other than functional dependencies</a:t>
            </a:r>
            <a:r>
              <a:rPr lang="en-US" sz="1800"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C86A6BA-4FFF-4EB1-9914-8021F542CF50}" type="slidenum">
              <a:rPr lang="en-US"/>
              <a:pPr/>
              <a:t>37</a:t>
            </a:fld>
            <a:endParaRPr lang="en-US" dirty="0"/>
          </a:p>
        </p:txBody>
      </p:sp>
      <p:sp>
        <p:nvSpPr>
          <p:cNvPr id="41986" name="Rectangle 2"/>
          <p:cNvSpPr>
            <a:spLocks noGrp="1" noChangeArrowheads="1"/>
          </p:cNvSpPr>
          <p:nvPr>
            <p:ph type="title"/>
          </p:nvPr>
        </p:nvSpPr>
        <p:spPr/>
        <p:txBody>
          <a:bodyPr/>
          <a:lstStyle/>
          <a:p>
            <a:r>
              <a:rPr lang="en-US" dirty="0"/>
              <a:t>4</a:t>
            </a:r>
            <a:r>
              <a:rPr lang="en-US" baseline="30000" dirty="0"/>
              <a:t>th</a:t>
            </a:r>
            <a:r>
              <a:rPr lang="en-US" dirty="0"/>
              <a:t>NF and 5</a:t>
            </a:r>
            <a:r>
              <a:rPr lang="en-US" baseline="30000" dirty="0"/>
              <a:t>th</a:t>
            </a:r>
            <a:r>
              <a:rPr lang="en-US" dirty="0"/>
              <a:t>NF</a:t>
            </a:r>
          </a:p>
        </p:txBody>
      </p:sp>
      <p:sp>
        <p:nvSpPr>
          <p:cNvPr id="41987" name="Rectangle 3"/>
          <p:cNvSpPr>
            <a:spLocks noGrp="1" noChangeArrowheads="1"/>
          </p:cNvSpPr>
          <p:nvPr>
            <p:ph type="body" idx="1"/>
          </p:nvPr>
        </p:nvSpPr>
        <p:spPr/>
        <p:txBody>
          <a:bodyPr>
            <a:normAutofit/>
          </a:bodyPr>
          <a:lstStyle/>
          <a:p>
            <a:r>
              <a:rPr lang="en-US" b="1" dirty="0"/>
              <a:t>4NF and 5NF</a:t>
            </a:r>
            <a:r>
              <a:rPr lang="en-US" dirty="0"/>
              <a:t> deal with multivalued facts. </a:t>
            </a:r>
          </a:p>
          <a:p>
            <a:pPr>
              <a:buNone/>
            </a:pPr>
            <a:endParaRPr lang="en-US" dirty="0"/>
          </a:p>
          <a:p>
            <a:r>
              <a:rPr lang="en-US" dirty="0"/>
              <a:t>Multivalue dependency</a:t>
            </a:r>
          </a:p>
          <a:p>
            <a:pPr lvl="1"/>
            <a:r>
              <a:rPr lang="en-US" dirty="0"/>
              <a:t>A condition in a relation with three or more attributes in which independent attributes appear to have relationships they do not have.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8B86926-D78C-40B9-BA40-F862AA645463}" type="slidenum">
              <a:rPr lang="en-US"/>
              <a:pPr/>
              <a:t>38</a:t>
            </a:fld>
            <a:endParaRPr lang="en-US" dirty="0"/>
          </a:p>
        </p:txBody>
      </p:sp>
      <p:sp>
        <p:nvSpPr>
          <p:cNvPr id="43010" name="Rectangle 2"/>
          <p:cNvSpPr>
            <a:spLocks noGrp="1" noChangeArrowheads="1"/>
          </p:cNvSpPr>
          <p:nvPr>
            <p:ph type="title"/>
          </p:nvPr>
        </p:nvSpPr>
        <p:spPr/>
        <p:txBody>
          <a:bodyPr/>
          <a:lstStyle/>
          <a:p>
            <a:r>
              <a:rPr lang="en-US" dirty="0"/>
              <a:t>4</a:t>
            </a:r>
            <a:r>
              <a:rPr lang="en-US" baseline="30000" dirty="0"/>
              <a:t>th</a:t>
            </a:r>
            <a:r>
              <a:rPr lang="en-US" dirty="0"/>
              <a:t> Normal Form</a:t>
            </a:r>
          </a:p>
        </p:txBody>
      </p:sp>
      <p:sp>
        <p:nvSpPr>
          <p:cNvPr id="43011" name="Rectangle 3"/>
          <p:cNvSpPr>
            <a:spLocks noGrp="1" noChangeArrowheads="1"/>
          </p:cNvSpPr>
          <p:nvPr>
            <p:ph type="body" idx="1"/>
          </p:nvPr>
        </p:nvSpPr>
        <p:spPr/>
        <p:txBody>
          <a:bodyPr/>
          <a:lstStyle/>
          <a:p>
            <a:pPr>
              <a:buFontTx/>
              <a:buNone/>
            </a:pPr>
            <a:r>
              <a:rPr lang="en-US" dirty="0"/>
              <a:t>	A relation is in fourth normal form if it is in BCNF and has no multi-value dependencies (MVD). </a:t>
            </a:r>
          </a:p>
          <a:p>
            <a:pPr>
              <a:buFontTx/>
              <a:buNone/>
            </a:pPr>
            <a:endParaRPr lang="en-US" dirty="0"/>
          </a:p>
          <a:p>
            <a:pPr>
              <a:buFontTx/>
              <a:buNone/>
            </a:pPr>
            <a:r>
              <a:rPr lang="en-US" dirty="0"/>
              <a:t>	A multi-value dependency exists when a relation has at least three attributes, two of them are multi-valued, and their values depend on only the third</a:t>
            </a:r>
          </a:p>
          <a:p>
            <a:pPr>
              <a:buFontTx/>
              <a:buNone/>
            </a:pPr>
            <a:r>
              <a:rPr lang="en-US" dirty="0"/>
              <a:t>	</a:t>
            </a:r>
          </a:p>
          <a:p>
            <a:pPr>
              <a:buFontTx/>
              <a:buNone/>
            </a:pPr>
            <a:r>
              <a:rPr lang="en-US" dirty="0"/>
              <a:t>	4NF is designed to eliminate multiple sets of multi-valued dependencies attribute.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4NF Example</a:t>
            </a:r>
          </a:p>
        </p:txBody>
      </p:sp>
      <p:graphicFrame>
        <p:nvGraphicFramePr>
          <p:cNvPr id="5" name="Content Placeholder 4"/>
          <p:cNvGraphicFramePr>
            <a:graphicFrameLocks noGrp="1"/>
          </p:cNvGraphicFramePr>
          <p:nvPr>
            <p:ph sz="half" idx="1"/>
          </p:nvPr>
        </p:nvGraphicFramePr>
        <p:xfrm>
          <a:off x="457200" y="1920875"/>
          <a:ext cx="4039120" cy="445008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20000"/>
                    </a:ext>
                  </a:extLst>
                </a:gridCol>
                <a:gridCol w="1638560">
                  <a:extLst>
                    <a:ext uri="{9D8B030D-6E8A-4147-A177-3AD203B41FA5}">
                      <a16:colId xmlns:a16="http://schemas.microsoft.com/office/drawing/2014/main" val="20001"/>
                    </a:ext>
                  </a:extLst>
                </a:gridCol>
                <a:gridCol w="1009780">
                  <a:extLst>
                    <a:ext uri="{9D8B030D-6E8A-4147-A177-3AD203B41FA5}">
                      <a16:colId xmlns:a16="http://schemas.microsoft.com/office/drawing/2014/main" val="20002"/>
                    </a:ext>
                  </a:extLst>
                </a:gridCol>
                <a:gridCol w="1009780">
                  <a:extLst>
                    <a:ext uri="{9D8B030D-6E8A-4147-A177-3AD203B41FA5}">
                      <a16:colId xmlns:a16="http://schemas.microsoft.com/office/drawing/2014/main" val="20003"/>
                    </a:ext>
                  </a:extLst>
                </a:gridCol>
              </a:tblGrid>
              <a:tr h="370840">
                <a:tc>
                  <a:txBody>
                    <a:bodyPr/>
                    <a:lstStyle/>
                    <a:p>
                      <a:pPr marL="0" marR="0">
                        <a:lnSpc>
                          <a:spcPct val="115000"/>
                        </a:lnSpc>
                        <a:spcBef>
                          <a:spcPts val="0"/>
                        </a:spcBef>
                        <a:spcAft>
                          <a:spcPts val="0"/>
                        </a:spcAft>
                      </a:pPr>
                      <a:endParaRPr lang="en-US" sz="1000" dirty="0">
                        <a:latin typeface="Bookman Old Style"/>
                        <a:ea typeface="Calibri"/>
                        <a:cs typeface="Times New Roman"/>
                      </a:endParaRPr>
                    </a:p>
                  </a:txBody>
                  <a:tcPr marL="87265" marR="87265" anchor="ctr"/>
                </a:tc>
                <a:tc gridSpan="3">
                  <a:txBody>
                    <a:bodyPr/>
                    <a:lstStyle/>
                    <a:p>
                      <a:pPr marL="0" marR="0">
                        <a:lnSpc>
                          <a:spcPct val="115000"/>
                        </a:lnSpc>
                        <a:spcBef>
                          <a:spcPts val="0"/>
                        </a:spcBef>
                        <a:spcAft>
                          <a:spcPts val="0"/>
                        </a:spcAft>
                      </a:pPr>
                      <a:r>
                        <a:rPr lang="en-US" sz="1000" b="1" dirty="0">
                          <a:latin typeface="Bookman Old Style"/>
                          <a:ea typeface="Calibri"/>
                          <a:cs typeface="Times New Roman"/>
                        </a:rPr>
                        <a:t>Table that is 3NF but not in 4NF</a:t>
                      </a:r>
                      <a:endParaRPr lang="en-US" sz="1200" dirty="0">
                        <a:latin typeface="Bookman Old Style"/>
                        <a:ea typeface="Calibri"/>
                        <a:cs typeface="Times New Roman"/>
                      </a:endParaRPr>
                    </a:p>
                  </a:txBody>
                  <a:tcPr marL="87265" marR="87265"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40">
                <a:tc>
                  <a:txBody>
                    <a:bodyPr/>
                    <a:lstStyle/>
                    <a:p>
                      <a:pPr marL="0" marR="0">
                        <a:lnSpc>
                          <a:spcPct val="115000"/>
                        </a:lnSpc>
                        <a:spcBef>
                          <a:spcPts val="0"/>
                        </a:spcBef>
                        <a:spcAft>
                          <a:spcPts val="0"/>
                        </a:spcAft>
                      </a:pPr>
                      <a:endParaRPr lang="en-US" sz="1000" u="sng" dirty="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b="1" u="sng" dirty="0">
                          <a:latin typeface="Bookman Old Style"/>
                          <a:ea typeface="Calibri"/>
                          <a:cs typeface="Times New Roman"/>
                        </a:rPr>
                        <a:t>Car</a:t>
                      </a:r>
                      <a:endParaRPr lang="en-US" sz="1200" u="sng" dirty="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b="1" u="sng" dirty="0" err="1">
                          <a:latin typeface="Bookman Old Style"/>
                          <a:ea typeface="Calibri"/>
                          <a:cs typeface="Times New Roman"/>
                        </a:rPr>
                        <a:t>Colour</a:t>
                      </a:r>
                      <a:endParaRPr lang="en-US" sz="1200" u="sng" dirty="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b="1" u="sng" dirty="0">
                          <a:latin typeface="Bookman Old Style"/>
                          <a:ea typeface="Calibri"/>
                          <a:cs typeface="Times New Roman"/>
                        </a:rPr>
                        <a:t>Engine</a:t>
                      </a:r>
                      <a:endParaRPr lang="en-US" sz="1200" u="sng" dirty="0">
                        <a:latin typeface="Bookman Old Style"/>
                        <a:ea typeface="Calibri"/>
                        <a:cs typeface="Times New Roman"/>
                      </a:endParaRPr>
                    </a:p>
                  </a:txBody>
                  <a:tcPr marL="87265" marR="87265" anchor="ctr"/>
                </a:tc>
                <a:extLst>
                  <a:ext uri="{0D108BD9-81ED-4DB2-BD59-A6C34878D82A}">
                    <a16:rowId xmlns:a16="http://schemas.microsoft.com/office/drawing/2014/main" val="10001"/>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1</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Red</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F3.2L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2"/>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2</a:t>
                      </a:r>
                    </a:p>
                  </a:txBody>
                  <a:tcPr marL="87265" marR="87265" anchor="ctr"/>
                </a:tc>
                <a:tc>
                  <a:txBody>
                    <a:bodyPr/>
                    <a:lstStyle/>
                    <a:p>
                      <a:pPr marL="0" marR="0">
                        <a:lnSpc>
                          <a:spcPct val="115000"/>
                        </a:lnSpc>
                        <a:spcBef>
                          <a:spcPts val="0"/>
                        </a:spcBef>
                        <a:spcAft>
                          <a:spcPts val="0"/>
                        </a:spcAft>
                      </a:pPr>
                      <a:r>
                        <a:rPr lang="en-US" sz="1000" dirty="0">
                          <a:latin typeface="Bookman Old Style"/>
                          <a:ea typeface="Calibri"/>
                          <a:cs typeface="Times New Roman"/>
                        </a:rPr>
                        <a:t>Mustang</a:t>
                      </a:r>
                      <a:endParaRPr lang="en-US" sz="1200" dirty="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Red</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F4.5L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3"/>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3</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White</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F3.2L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4"/>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4</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White</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F4.5L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5"/>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5</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Blue</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F3.2L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6"/>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6</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Blue</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F4.5L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7"/>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7</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Red</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C2.1L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8"/>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8</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Red</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C3.0L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09"/>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9</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Green</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C2.1L</a:t>
                      </a:r>
                      <a:endParaRPr lang="en-US" sz="1200">
                        <a:latin typeface="Bookman Old Style"/>
                        <a:ea typeface="Calibri"/>
                        <a:cs typeface="Times New Roman"/>
                      </a:endParaRPr>
                    </a:p>
                  </a:txBody>
                  <a:tcPr marL="87265" marR="87265" anchor="ctr"/>
                </a:tc>
                <a:extLst>
                  <a:ext uri="{0D108BD9-81ED-4DB2-BD59-A6C34878D82A}">
                    <a16:rowId xmlns:a16="http://schemas.microsoft.com/office/drawing/2014/main" val="10010"/>
                  </a:ext>
                </a:extLst>
              </a:tr>
              <a:tr h="370840">
                <a:tc>
                  <a:txBody>
                    <a:bodyPr/>
                    <a:lstStyle/>
                    <a:p>
                      <a:pPr marL="0" marR="0">
                        <a:lnSpc>
                          <a:spcPct val="115000"/>
                        </a:lnSpc>
                        <a:spcBef>
                          <a:spcPts val="0"/>
                        </a:spcBef>
                        <a:spcAft>
                          <a:spcPts val="0"/>
                        </a:spcAft>
                      </a:pPr>
                      <a:r>
                        <a:rPr lang="en-US" sz="1000" dirty="0">
                          <a:latin typeface="Bookman Old Style"/>
                          <a:ea typeface="Calibri"/>
                          <a:cs typeface="Times New Roman"/>
                        </a:rPr>
                        <a:t>10</a:t>
                      </a: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a:latin typeface="Bookman Old Style"/>
                          <a:ea typeface="Calibri"/>
                          <a:cs typeface="Times New Roman"/>
                        </a:rPr>
                        <a:t>Green</a:t>
                      </a:r>
                      <a:endParaRPr lang="en-US" sz="1200">
                        <a:latin typeface="Bookman Old Style"/>
                        <a:ea typeface="Calibri"/>
                        <a:cs typeface="Times New Roman"/>
                      </a:endParaRPr>
                    </a:p>
                  </a:txBody>
                  <a:tcPr marL="87265" marR="87265" anchor="ctr"/>
                </a:tc>
                <a:tc>
                  <a:txBody>
                    <a:bodyPr/>
                    <a:lstStyle/>
                    <a:p>
                      <a:pPr marL="0" marR="0">
                        <a:lnSpc>
                          <a:spcPct val="115000"/>
                        </a:lnSpc>
                        <a:spcBef>
                          <a:spcPts val="0"/>
                        </a:spcBef>
                        <a:spcAft>
                          <a:spcPts val="0"/>
                        </a:spcAft>
                      </a:pPr>
                      <a:r>
                        <a:rPr lang="en-US" sz="1000" dirty="0">
                          <a:latin typeface="Bookman Old Style"/>
                          <a:ea typeface="Calibri"/>
                          <a:cs typeface="Times New Roman"/>
                        </a:rPr>
                        <a:t>C3.0L</a:t>
                      </a:r>
                      <a:endParaRPr lang="en-US" sz="1200" dirty="0">
                        <a:latin typeface="Bookman Old Style"/>
                        <a:ea typeface="Calibri"/>
                        <a:cs typeface="Times New Roman"/>
                      </a:endParaRPr>
                    </a:p>
                  </a:txBody>
                  <a:tcPr marL="87265" marR="87265" anchor="ctr"/>
                </a:tc>
                <a:extLst>
                  <a:ext uri="{0D108BD9-81ED-4DB2-BD59-A6C34878D82A}">
                    <a16:rowId xmlns:a16="http://schemas.microsoft.com/office/drawing/2014/main" val="10011"/>
                  </a:ext>
                </a:extLst>
              </a:tr>
            </a:tbl>
          </a:graphicData>
        </a:graphic>
      </p:graphicFrame>
      <p:sp>
        <p:nvSpPr>
          <p:cNvPr id="7" name="Content Placeholder 6"/>
          <p:cNvSpPr>
            <a:spLocks noGrp="1"/>
          </p:cNvSpPr>
          <p:nvPr>
            <p:ph sz="half" idx="2"/>
          </p:nvPr>
        </p:nvSpPr>
        <p:spPr/>
        <p:txBody>
          <a:bodyPr/>
          <a:lstStyle/>
          <a:p>
            <a:r>
              <a:rPr lang="en-US" dirty="0"/>
              <a:t>Each </a:t>
            </a:r>
            <a:r>
              <a:rPr lang="en-US" dirty="0" err="1"/>
              <a:t>colour</a:t>
            </a:r>
            <a:r>
              <a:rPr lang="en-US" dirty="0"/>
              <a:t> for each car is paired with each engine size for each car (and </a:t>
            </a:r>
            <a:r>
              <a:rPr lang="en-US" i="1" dirty="0"/>
              <a:t>vice versa</a:t>
            </a:r>
            <a:r>
              <a:rPr lang="en-US" dirty="0"/>
              <a:t>).</a:t>
            </a:r>
          </a:p>
          <a:p>
            <a:r>
              <a:rPr lang="en-US" dirty="0"/>
              <a:t>For every car all of its possible </a:t>
            </a:r>
            <a:r>
              <a:rPr lang="en-US" dirty="0" err="1"/>
              <a:t>colours</a:t>
            </a:r>
            <a:r>
              <a:rPr lang="en-US" dirty="0"/>
              <a:t> will be paired with all of its possible engines.</a:t>
            </a:r>
          </a:p>
        </p:txBody>
      </p:sp>
      <p:sp>
        <p:nvSpPr>
          <p:cNvPr id="4" name="Slide Number Placeholder 3"/>
          <p:cNvSpPr>
            <a:spLocks noGrp="1"/>
          </p:cNvSpPr>
          <p:nvPr>
            <p:ph type="sldNum" sz="quarter" idx="12"/>
          </p:nvPr>
        </p:nvSpPr>
        <p:spPr/>
        <p:txBody>
          <a:bodyPr/>
          <a:lstStyle/>
          <a:p>
            <a:fld id="{555817BA-32BD-442C-96BA-2469E6603B0D}"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detect MVDs</a:t>
            </a:r>
          </a:p>
        </p:txBody>
      </p:sp>
      <p:sp>
        <p:nvSpPr>
          <p:cNvPr id="3" name="Content Placeholder 2"/>
          <p:cNvSpPr>
            <a:spLocks noGrp="1"/>
          </p:cNvSpPr>
          <p:nvPr>
            <p:ph idx="1"/>
          </p:nvPr>
        </p:nvSpPr>
        <p:spPr/>
        <p:txBody>
          <a:bodyPr>
            <a:normAutofit fontScale="92500" lnSpcReduction="20000"/>
          </a:bodyPr>
          <a:lstStyle/>
          <a:p>
            <a:pPr lvl="0"/>
            <a:r>
              <a:rPr lang="en-US" dirty="0"/>
              <a:t>Find any pair of rows that have the same value of [car]. To start, look at rows 1 and 6.</a:t>
            </a:r>
          </a:p>
          <a:p>
            <a:r>
              <a:rPr lang="en-US" dirty="0"/>
              <a:t>Exchange the values of [</a:t>
            </a:r>
            <a:r>
              <a:rPr lang="en-US" dirty="0" err="1"/>
              <a:t>colour</a:t>
            </a:r>
            <a:r>
              <a:rPr lang="en-US" dirty="0"/>
              <a:t>] in these two rows. Now you have [mustang, blue, F3.2L] and [mustang, red, F4.5L].</a:t>
            </a:r>
          </a:p>
          <a:p>
            <a:pPr lvl="0"/>
            <a:r>
              <a:rPr lang="en-US" dirty="0"/>
              <a:t>Verify that two other rows exist with these values. They do (rows 5 and 2).</a:t>
            </a:r>
          </a:p>
          <a:p>
            <a:r>
              <a:rPr lang="en-US" dirty="0"/>
              <a:t>Continue this for all other pairs of rows for which the value of [car] is the same.</a:t>
            </a:r>
          </a:p>
          <a:p>
            <a:endParaRPr lang="en-US" dirty="0"/>
          </a:p>
          <a:p>
            <a:r>
              <a:rPr lang="en-US" dirty="0"/>
              <a:t>Since car </a:t>
            </a:r>
            <a:r>
              <a:rPr lang="en-US" dirty="0">
                <a:sym typeface="Wingdings" pitchFamily="2" charset="2"/>
              </a:rPr>
              <a:t></a:t>
            </a:r>
            <a:r>
              <a:rPr lang="en-US" dirty="0" err="1">
                <a:sym typeface="Wingdings" pitchFamily="2" charset="2"/>
              </a:rPr>
              <a:t>colour</a:t>
            </a:r>
            <a:r>
              <a:rPr lang="en-US" dirty="0">
                <a:sym typeface="Wingdings" pitchFamily="2" charset="2"/>
              </a:rPr>
              <a:t> then it passes the test (as does car  engine). We have verified that this relation does contain MVDs.</a:t>
            </a:r>
            <a:endParaRPr lang="en-US" dirty="0"/>
          </a:p>
          <a:p>
            <a:endParaRPr lang="en-US"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Car relation in 4NF</a:t>
            </a:r>
          </a:p>
        </p:txBody>
      </p:sp>
      <p:graphicFrame>
        <p:nvGraphicFramePr>
          <p:cNvPr id="5" name="Content Placeholder 4"/>
          <p:cNvGraphicFramePr>
            <a:graphicFrameLocks noGrp="1"/>
          </p:cNvGraphicFramePr>
          <p:nvPr>
            <p:ph sz="half" idx="1"/>
          </p:nvPr>
        </p:nvGraphicFramePr>
        <p:xfrm>
          <a:off x="457200" y="1920875"/>
          <a:ext cx="4038600" cy="3368339"/>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259103">
                <a:tc gridSpan="2">
                  <a:txBody>
                    <a:bodyPr/>
                    <a:lstStyle/>
                    <a:p>
                      <a:pPr marL="0" marR="0">
                        <a:lnSpc>
                          <a:spcPct val="115000"/>
                        </a:lnSpc>
                        <a:spcBef>
                          <a:spcPts val="0"/>
                        </a:spcBef>
                        <a:spcAft>
                          <a:spcPts val="0"/>
                        </a:spcAft>
                      </a:pPr>
                      <a:r>
                        <a:rPr lang="en-US" sz="1000" b="1" dirty="0">
                          <a:latin typeface="Bookman Old Style"/>
                          <a:ea typeface="Calibri"/>
                          <a:cs typeface="Times New Roman"/>
                        </a:rPr>
                        <a:t>Car </a:t>
                      </a:r>
                      <a:r>
                        <a:rPr lang="en-US" sz="1000" b="1" dirty="0" err="1">
                          <a:latin typeface="Bookman Old Style"/>
                          <a:ea typeface="Calibri"/>
                          <a:cs typeface="Times New Roman"/>
                        </a:rPr>
                        <a:t>Colour</a:t>
                      </a:r>
                      <a:r>
                        <a:rPr lang="en-US" sz="1000" b="1" dirty="0">
                          <a:latin typeface="Bookman Old Style"/>
                          <a:ea typeface="Calibri"/>
                          <a:cs typeface="Times New Roman"/>
                        </a:rPr>
                        <a:t> relation</a:t>
                      </a:r>
                      <a:endParaRPr lang="en-US" sz="1200" dirty="0">
                        <a:latin typeface="Bookman Old Style"/>
                        <a:ea typeface="Calibri"/>
                        <a:cs typeface="Times New Roman"/>
                      </a:endParaRPr>
                    </a:p>
                  </a:txBody>
                  <a:tcPr marL="64250" marR="64250" anchor="ctr"/>
                </a:tc>
                <a:tc hMerge="1">
                  <a:txBody>
                    <a:bodyPr/>
                    <a:lstStyle/>
                    <a:p>
                      <a:endParaRPr lang="en-US"/>
                    </a:p>
                  </a:txBody>
                  <a:tcPr/>
                </a:tc>
                <a:extLst>
                  <a:ext uri="{0D108BD9-81ED-4DB2-BD59-A6C34878D82A}">
                    <a16:rowId xmlns:a16="http://schemas.microsoft.com/office/drawing/2014/main" val="10000"/>
                  </a:ext>
                </a:extLst>
              </a:tr>
              <a:tr h="259103">
                <a:tc>
                  <a:txBody>
                    <a:bodyPr/>
                    <a:lstStyle/>
                    <a:p>
                      <a:pPr marL="0" marR="0">
                        <a:lnSpc>
                          <a:spcPct val="115000"/>
                        </a:lnSpc>
                        <a:spcBef>
                          <a:spcPts val="0"/>
                        </a:spcBef>
                        <a:spcAft>
                          <a:spcPts val="0"/>
                        </a:spcAft>
                      </a:pPr>
                      <a:r>
                        <a:rPr lang="en-US" sz="1000" b="1" u="sng" dirty="0">
                          <a:latin typeface="Bookman Old Style"/>
                          <a:ea typeface="Calibri"/>
                          <a:cs typeface="Times New Roman"/>
                        </a:rPr>
                        <a:t>Car</a:t>
                      </a:r>
                      <a:endParaRPr lang="en-US" sz="1200" u="sng" dirty="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b="1" u="sng" dirty="0" err="1">
                          <a:latin typeface="Bookman Old Style"/>
                          <a:ea typeface="Calibri"/>
                          <a:cs typeface="Times New Roman"/>
                        </a:rPr>
                        <a:t>Colour</a:t>
                      </a:r>
                      <a:endParaRPr lang="en-US" sz="1200" u="sng" dirty="0">
                        <a:latin typeface="Bookman Old Style"/>
                        <a:ea typeface="Calibri"/>
                        <a:cs typeface="Times New Roman"/>
                      </a:endParaRPr>
                    </a:p>
                  </a:txBody>
                  <a:tcPr marL="64250" marR="64250" anchor="ctr"/>
                </a:tc>
                <a:extLst>
                  <a:ext uri="{0D108BD9-81ED-4DB2-BD59-A6C34878D82A}">
                    <a16:rowId xmlns:a16="http://schemas.microsoft.com/office/drawing/2014/main" val="10001"/>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a:latin typeface="Bookman Old Style"/>
                          <a:ea typeface="Calibri"/>
                          <a:cs typeface="Times New Roman"/>
                        </a:rPr>
                        <a:t>Red</a:t>
                      </a:r>
                      <a:endParaRPr lang="en-US" sz="1200">
                        <a:latin typeface="Bookman Old Style"/>
                        <a:ea typeface="Calibri"/>
                        <a:cs typeface="Times New Roman"/>
                      </a:endParaRPr>
                    </a:p>
                  </a:txBody>
                  <a:tcPr marL="64250" marR="64250" anchor="ctr"/>
                </a:tc>
                <a:extLst>
                  <a:ext uri="{0D108BD9-81ED-4DB2-BD59-A6C34878D82A}">
                    <a16:rowId xmlns:a16="http://schemas.microsoft.com/office/drawing/2014/main" val="10002"/>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a:latin typeface="Bookman Old Style"/>
                          <a:ea typeface="Calibri"/>
                          <a:cs typeface="Times New Roman"/>
                        </a:rPr>
                        <a:t>White</a:t>
                      </a:r>
                      <a:endParaRPr lang="en-US" sz="1200">
                        <a:latin typeface="Bookman Old Style"/>
                        <a:ea typeface="Calibri"/>
                        <a:cs typeface="Times New Roman"/>
                      </a:endParaRPr>
                    </a:p>
                  </a:txBody>
                  <a:tcPr marL="64250" marR="64250" anchor="ctr"/>
                </a:tc>
                <a:extLst>
                  <a:ext uri="{0D108BD9-81ED-4DB2-BD59-A6C34878D82A}">
                    <a16:rowId xmlns:a16="http://schemas.microsoft.com/office/drawing/2014/main" val="10003"/>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a:latin typeface="Bookman Old Style"/>
                          <a:ea typeface="Calibri"/>
                          <a:cs typeface="Times New Roman"/>
                        </a:rPr>
                        <a:t>Blue</a:t>
                      </a:r>
                      <a:endParaRPr lang="en-US" sz="1200">
                        <a:latin typeface="Bookman Old Style"/>
                        <a:ea typeface="Calibri"/>
                        <a:cs typeface="Times New Roman"/>
                      </a:endParaRPr>
                    </a:p>
                  </a:txBody>
                  <a:tcPr marL="64250" marR="64250" anchor="ctr"/>
                </a:tc>
                <a:extLst>
                  <a:ext uri="{0D108BD9-81ED-4DB2-BD59-A6C34878D82A}">
                    <a16:rowId xmlns:a16="http://schemas.microsoft.com/office/drawing/2014/main" val="10004"/>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a:latin typeface="Bookman Old Style"/>
                          <a:ea typeface="Calibri"/>
                          <a:cs typeface="Times New Roman"/>
                        </a:rPr>
                        <a:t>Red</a:t>
                      </a:r>
                      <a:endParaRPr lang="en-US" sz="1200">
                        <a:latin typeface="Bookman Old Style"/>
                        <a:ea typeface="Calibri"/>
                        <a:cs typeface="Times New Roman"/>
                      </a:endParaRPr>
                    </a:p>
                  </a:txBody>
                  <a:tcPr marL="64250" marR="64250" anchor="ctr"/>
                </a:tc>
                <a:extLst>
                  <a:ext uri="{0D108BD9-81ED-4DB2-BD59-A6C34878D82A}">
                    <a16:rowId xmlns:a16="http://schemas.microsoft.com/office/drawing/2014/main" val="10005"/>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a:latin typeface="Bookman Old Style"/>
                          <a:ea typeface="Calibri"/>
                          <a:cs typeface="Times New Roman"/>
                        </a:rPr>
                        <a:t>Green</a:t>
                      </a:r>
                      <a:endParaRPr lang="en-US" sz="1200">
                        <a:latin typeface="Bookman Old Style"/>
                        <a:ea typeface="Calibri"/>
                        <a:cs typeface="Times New Roman"/>
                      </a:endParaRPr>
                    </a:p>
                  </a:txBody>
                  <a:tcPr marL="64250" marR="64250" anchor="ctr"/>
                </a:tc>
                <a:extLst>
                  <a:ext uri="{0D108BD9-81ED-4DB2-BD59-A6C34878D82A}">
                    <a16:rowId xmlns:a16="http://schemas.microsoft.com/office/drawing/2014/main" val="10006"/>
                  </a:ext>
                </a:extLst>
              </a:tr>
              <a:tr h="259103">
                <a:tc gridSpan="2">
                  <a:txBody>
                    <a:bodyPr/>
                    <a:lstStyle/>
                    <a:p>
                      <a:pPr marL="0" marR="0">
                        <a:lnSpc>
                          <a:spcPct val="115000"/>
                        </a:lnSpc>
                        <a:spcBef>
                          <a:spcPts val="0"/>
                        </a:spcBef>
                        <a:spcAft>
                          <a:spcPts val="0"/>
                        </a:spcAft>
                      </a:pPr>
                      <a:r>
                        <a:rPr lang="en-US" sz="1000" b="1" dirty="0">
                          <a:latin typeface="Bookman Old Style"/>
                          <a:ea typeface="Calibri"/>
                          <a:cs typeface="Times New Roman"/>
                        </a:rPr>
                        <a:t>Car Engine relation</a:t>
                      </a:r>
                      <a:endParaRPr lang="en-US" sz="1200" dirty="0">
                        <a:latin typeface="Bookman Old Style"/>
                        <a:ea typeface="Calibri"/>
                        <a:cs typeface="Times New Roman"/>
                      </a:endParaRPr>
                    </a:p>
                  </a:txBody>
                  <a:tcPr marL="64250" marR="64250" anchor="ctr"/>
                </a:tc>
                <a:tc hMerge="1">
                  <a:txBody>
                    <a:bodyPr/>
                    <a:lstStyle/>
                    <a:p>
                      <a:endParaRPr lang="en-US"/>
                    </a:p>
                  </a:txBody>
                  <a:tcPr/>
                </a:tc>
                <a:extLst>
                  <a:ext uri="{0D108BD9-81ED-4DB2-BD59-A6C34878D82A}">
                    <a16:rowId xmlns:a16="http://schemas.microsoft.com/office/drawing/2014/main" val="10007"/>
                  </a:ext>
                </a:extLst>
              </a:tr>
              <a:tr h="259103">
                <a:tc>
                  <a:txBody>
                    <a:bodyPr/>
                    <a:lstStyle/>
                    <a:p>
                      <a:pPr marL="0" marR="0">
                        <a:lnSpc>
                          <a:spcPct val="115000"/>
                        </a:lnSpc>
                        <a:spcBef>
                          <a:spcPts val="0"/>
                        </a:spcBef>
                        <a:spcAft>
                          <a:spcPts val="0"/>
                        </a:spcAft>
                      </a:pPr>
                      <a:r>
                        <a:rPr lang="en-US" sz="1000" b="1" u="sng" dirty="0">
                          <a:latin typeface="Bookman Old Style"/>
                          <a:ea typeface="Calibri"/>
                          <a:cs typeface="Times New Roman"/>
                        </a:rPr>
                        <a:t>Car</a:t>
                      </a:r>
                      <a:endParaRPr lang="en-US" sz="1200" u="sng" dirty="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b="1" u="sng" dirty="0">
                          <a:latin typeface="Bookman Old Style"/>
                          <a:ea typeface="Calibri"/>
                          <a:cs typeface="Times New Roman"/>
                        </a:rPr>
                        <a:t>Engine</a:t>
                      </a:r>
                      <a:endParaRPr lang="en-US" sz="1200" u="sng" dirty="0">
                        <a:latin typeface="Bookman Old Style"/>
                        <a:ea typeface="Calibri"/>
                        <a:cs typeface="Times New Roman"/>
                      </a:endParaRPr>
                    </a:p>
                  </a:txBody>
                  <a:tcPr marL="64250" marR="64250" anchor="ctr"/>
                </a:tc>
                <a:extLst>
                  <a:ext uri="{0D108BD9-81ED-4DB2-BD59-A6C34878D82A}">
                    <a16:rowId xmlns:a16="http://schemas.microsoft.com/office/drawing/2014/main" val="10008"/>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a:latin typeface="Bookman Old Style"/>
                          <a:ea typeface="Calibri"/>
                          <a:cs typeface="Times New Roman"/>
                        </a:rPr>
                        <a:t>F3.2L</a:t>
                      </a:r>
                      <a:endParaRPr lang="en-US" sz="1200">
                        <a:latin typeface="Bookman Old Style"/>
                        <a:ea typeface="Calibri"/>
                        <a:cs typeface="Times New Roman"/>
                      </a:endParaRPr>
                    </a:p>
                  </a:txBody>
                  <a:tcPr marL="64250" marR="64250" anchor="ctr"/>
                </a:tc>
                <a:extLst>
                  <a:ext uri="{0D108BD9-81ED-4DB2-BD59-A6C34878D82A}">
                    <a16:rowId xmlns:a16="http://schemas.microsoft.com/office/drawing/2014/main" val="10009"/>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Mustang</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a:latin typeface="Bookman Old Style"/>
                          <a:ea typeface="Calibri"/>
                          <a:cs typeface="Times New Roman"/>
                        </a:rPr>
                        <a:t>F4.5L</a:t>
                      </a:r>
                      <a:endParaRPr lang="en-US" sz="1200">
                        <a:latin typeface="Bookman Old Style"/>
                        <a:ea typeface="Calibri"/>
                        <a:cs typeface="Times New Roman"/>
                      </a:endParaRPr>
                    </a:p>
                  </a:txBody>
                  <a:tcPr marL="64250" marR="64250" anchor="ctr"/>
                </a:tc>
                <a:extLst>
                  <a:ext uri="{0D108BD9-81ED-4DB2-BD59-A6C34878D82A}">
                    <a16:rowId xmlns:a16="http://schemas.microsoft.com/office/drawing/2014/main" val="10010"/>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dirty="0">
                          <a:latin typeface="Bookman Old Style"/>
                          <a:ea typeface="Calibri"/>
                          <a:cs typeface="Times New Roman"/>
                        </a:rPr>
                        <a:t>C2.1L</a:t>
                      </a:r>
                      <a:endParaRPr lang="en-US" sz="1200" dirty="0">
                        <a:latin typeface="Bookman Old Style"/>
                        <a:ea typeface="Calibri"/>
                        <a:cs typeface="Times New Roman"/>
                      </a:endParaRPr>
                    </a:p>
                  </a:txBody>
                  <a:tcPr marL="64250" marR="64250" anchor="ctr"/>
                </a:tc>
                <a:extLst>
                  <a:ext uri="{0D108BD9-81ED-4DB2-BD59-A6C34878D82A}">
                    <a16:rowId xmlns:a16="http://schemas.microsoft.com/office/drawing/2014/main" val="10011"/>
                  </a:ext>
                </a:extLst>
              </a:tr>
              <a:tr h="259103">
                <a:tc>
                  <a:txBody>
                    <a:bodyPr/>
                    <a:lstStyle/>
                    <a:p>
                      <a:pPr marL="0" marR="0">
                        <a:lnSpc>
                          <a:spcPct val="115000"/>
                        </a:lnSpc>
                        <a:spcBef>
                          <a:spcPts val="0"/>
                        </a:spcBef>
                        <a:spcAft>
                          <a:spcPts val="0"/>
                        </a:spcAft>
                      </a:pPr>
                      <a:r>
                        <a:rPr lang="en-US" sz="1000">
                          <a:latin typeface="Bookman Old Style"/>
                          <a:ea typeface="Calibri"/>
                          <a:cs typeface="Times New Roman"/>
                        </a:rPr>
                        <a:t>Cirrus</a:t>
                      </a:r>
                      <a:endParaRPr lang="en-US" sz="1200">
                        <a:latin typeface="Bookman Old Style"/>
                        <a:ea typeface="Calibri"/>
                        <a:cs typeface="Times New Roman"/>
                      </a:endParaRPr>
                    </a:p>
                  </a:txBody>
                  <a:tcPr marL="64250" marR="64250" anchor="ctr"/>
                </a:tc>
                <a:tc>
                  <a:txBody>
                    <a:bodyPr/>
                    <a:lstStyle/>
                    <a:p>
                      <a:pPr marL="0" marR="0">
                        <a:lnSpc>
                          <a:spcPct val="115000"/>
                        </a:lnSpc>
                        <a:spcBef>
                          <a:spcPts val="0"/>
                        </a:spcBef>
                        <a:spcAft>
                          <a:spcPts val="0"/>
                        </a:spcAft>
                      </a:pPr>
                      <a:r>
                        <a:rPr lang="en-US" sz="1000" dirty="0">
                          <a:latin typeface="Bookman Old Style"/>
                          <a:ea typeface="Calibri"/>
                          <a:cs typeface="Times New Roman"/>
                        </a:rPr>
                        <a:t>C3.0L</a:t>
                      </a:r>
                      <a:endParaRPr lang="en-US" sz="1200" dirty="0">
                        <a:latin typeface="Bookman Old Style"/>
                        <a:ea typeface="Calibri"/>
                        <a:cs typeface="Times New Roman"/>
                      </a:endParaRPr>
                    </a:p>
                  </a:txBody>
                  <a:tcPr marL="64250" marR="64250" anchor="ctr"/>
                </a:tc>
                <a:extLst>
                  <a:ext uri="{0D108BD9-81ED-4DB2-BD59-A6C34878D82A}">
                    <a16:rowId xmlns:a16="http://schemas.microsoft.com/office/drawing/2014/main" val="10012"/>
                  </a:ext>
                </a:extLst>
              </a:tr>
            </a:tbl>
          </a:graphicData>
        </a:graphic>
      </p:graphicFrame>
      <p:sp>
        <p:nvSpPr>
          <p:cNvPr id="7" name="Content Placeholder 6"/>
          <p:cNvSpPr>
            <a:spLocks noGrp="1"/>
          </p:cNvSpPr>
          <p:nvPr>
            <p:ph sz="half" idx="2"/>
          </p:nvPr>
        </p:nvSpPr>
        <p:spPr/>
        <p:txBody>
          <a:bodyPr>
            <a:normAutofit/>
          </a:bodyPr>
          <a:lstStyle/>
          <a:p>
            <a:pPr marL="0" indent="0">
              <a:buNone/>
            </a:pPr>
            <a:r>
              <a:rPr lang="en-US" dirty="0"/>
              <a:t>With this table structure you can still determine, for example, that a red Mustang can have either an F3.2L or F4.5L engine. When you delete one piece of information (i.e., a car </a:t>
            </a:r>
            <a:r>
              <a:rPr lang="en-US" dirty="0" err="1"/>
              <a:t>colour</a:t>
            </a:r>
            <a:r>
              <a:rPr lang="en-US" dirty="0"/>
              <a:t>), you lose only </a:t>
            </a:r>
            <a:r>
              <a:rPr lang="en-US"/>
              <a:t>that fact.</a:t>
            </a:r>
            <a:endParaRPr lang="en-US" dirty="0"/>
          </a:p>
        </p:txBody>
      </p:sp>
      <p:sp>
        <p:nvSpPr>
          <p:cNvPr id="4" name="Slide Number Placeholder 3"/>
          <p:cNvSpPr>
            <a:spLocks noGrp="1"/>
          </p:cNvSpPr>
          <p:nvPr>
            <p:ph type="sldNum" sz="quarter" idx="12"/>
          </p:nvPr>
        </p:nvSpPr>
        <p:spPr/>
        <p:txBody>
          <a:bodyPr/>
          <a:lstStyle/>
          <a:p>
            <a:fld id="{555817BA-32BD-442C-96BA-2469E6603B0D}"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2857231-19AA-4D67-9B92-4EDDBA3B67EE}" type="slidenum">
              <a:rPr lang="en-US"/>
              <a:pPr/>
              <a:t>42</a:t>
            </a:fld>
            <a:endParaRPr lang="en-US" dirty="0"/>
          </a:p>
        </p:txBody>
      </p:sp>
      <p:sp>
        <p:nvSpPr>
          <p:cNvPr id="47106" name="Rectangle 2"/>
          <p:cNvSpPr>
            <a:spLocks noGrp="1" noChangeArrowheads="1"/>
          </p:cNvSpPr>
          <p:nvPr>
            <p:ph type="title"/>
          </p:nvPr>
        </p:nvSpPr>
        <p:spPr/>
        <p:txBody>
          <a:bodyPr/>
          <a:lstStyle/>
          <a:p>
            <a:r>
              <a:rPr lang="en-US" dirty="0"/>
              <a:t>5</a:t>
            </a:r>
            <a:r>
              <a:rPr lang="en-US" baseline="30000" dirty="0"/>
              <a:t>th</a:t>
            </a:r>
            <a:r>
              <a:rPr lang="en-US" dirty="0"/>
              <a:t> Normal Form</a:t>
            </a:r>
          </a:p>
        </p:txBody>
      </p:sp>
      <p:sp>
        <p:nvSpPr>
          <p:cNvPr id="47107" name="Rectangle 3"/>
          <p:cNvSpPr>
            <a:spLocks noGrp="1" noChangeArrowheads="1"/>
          </p:cNvSpPr>
          <p:nvPr>
            <p:ph type="body" idx="1"/>
          </p:nvPr>
        </p:nvSpPr>
        <p:spPr/>
        <p:txBody>
          <a:bodyPr/>
          <a:lstStyle/>
          <a:p>
            <a:pPr>
              <a:buFontTx/>
              <a:buNone/>
            </a:pPr>
            <a:r>
              <a:rPr lang="en-US" dirty="0"/>
              <a:t>	5NF deals with cases where information can be reconstructed from smaller pieces of information which can be maintained with less redundancy.  </a:t>
            </a:r>
          </a:p>
          <a:p>
            <a:pPr>
              <a:buFontTx/>
              <a:buNone/>
            </a:pPr>
            <a:endParaRPr lang="en-US" dirty="0"/>
          </a:p>
          <a:p>
            <a:pPr>
              <a:buFontTx/>
              <a:buNone/>
            </a:pPr>
            <a:r>
              <a:rPr lang="en-US" dirty="0"/>
              <a:t>	Eliminate cyclic dependencies. 5NF is also known as Projection Normal Form (PJNF</a:t>
            </a:r>
          </a:p>
          <a:p>
            <a:pPr>
              <a:buFontTx/>
              <a:buNone/>
            </a:pPr>
            <a:endParaRPr lang="en-US" dirty="0"/>
          </a:p>
          <a:p>
            <a:pPr>
              <a:buFontTx/>
              <a:buNone/>
            </a:pPr>
            <a:r>
              <a:rPr lang="en-US" dirty="0"/>
              <a:t>	2NF, 3NF and 4NF also serve this purpose, but 5NF generalizes to cases not covered by the others.</a:t>
            </a:r>
            <a:r>
              <a:rPr lang="en-US" sz="2800"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2ED50A3-9E3E-4CF0-932B-00250F0CFFCB}" type="slidenum">
              <a:rPr lang="en-US"/>
              <a:pPr/>
              <a:t>43</a:t>
            </a:fld>
            <a:endParaRPr lang="en-US" dirty="0"/>
          </a:p>
        </p:txBody>
      </p:sp>
      <p:sp>
        <p:nvSpPr>
          <p:cNvPr id="48130" name="Rectangle 2"/>
          <p:cNvSpPr>
            <a:spLocks noGrp="1" noChangeArrowheads="1"/>
          </p:cNvSpPr>
          <p:nvPr>
            <p:ph type="title"/>
          </p:nvPr>
        </p:nvSpPr>
        <p:spPr/>
        <p:txBody>
          <a:bodyPr/>
          <a:lstStyle/>
          <a:p>
            <a:r>
              <a:rPr lang="en-US" dirty="0"/>
              <a:t>5NF Example</a:t>
            </a:r>
          </a:p>
        </p:txBody>
      </p:sp>
      <p:sp>
        <p:nvSpPr>
          <p:cNvPr id="48131" name="Rectangle 3"/>
          <p:cNvSpPr>
            <a:spLocks noGrp="1" noChangeArrowheads="1"/>
          </p:cNvSpPr>
          <p:nvPr>
            <p:ph type="body" idx="1"/>
          </p:nvPr>
        </p:nvSpPr>
        <p:spPr/>
        <p:txBody>
          <a:bodyPr/>
          <a:lstStyle/>
          <a:p>
            <a:pPr>
              <a:buFontTx/>
              <a:buNone/>
            </a:pPr>
            <a:r>
              <a:rPr lang="en-US" dirty="0"/>
              <a:t> 	If agents represent companies, companies make products, and agents sell products, then we might want to keep a record of which agent sells which product for which company.  This information could be kept in one record type with three fields.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3"/>
          <p:cNvSpPr>
            <a:spLocks noGrp="1"/>
          </p:cNvSpPr>
          <p:nvPr>
            <p:ph type="sldNum" sz="quarter" idx="12"/>
          </p:nvPr>
        </p:nvSpPr>
        <p:spPr/>
        <p:txBody>
          <a:bodyPr/>
          <a:lstStyle/>
          <a:p>
            <a:fld id="{651F892F-AB14-4A2E-BA97-9D0BDFB667B6}" type="slidenum">
              <a:rPr lang="en-US"/>
              <a:pPr/>
              <a:t>44</a:t>
            </a:fld>
            <a:endParaRPr lang="en-US" dirty="0"/>
          </a:p>
        </p:txBody>
      </p:sp>
      <p:sp>
        <p:nvSpPr>
          <p:cNvPr id="49223" name="Rectangle 71"/>
          <p:cNvSpPr>
            <a:spLocks noGrp="1" noChangeArrowheads="1"/>
          </p:cNvSpPr>
          <p:nvPr>
            <p:ph type="body" idx="4294967295"/>
          </p:nvPr>
        </p:nvSpPr>
        <p:spPr>
          <a:xfrm>
            <a:off x="457200" y="1143000"/>
            <a:ext cx="8229600" cy="2057400"/>
          </a:xfrm>
        </p:spPr>
        <p:txBody>
          <a:bodyPr>
            <a:normAutofit lnSpcReduction="10000"/>
          </a:bodyPr>
          <a:lstStyle/>
          <a:p>
            <a:pPr>
              <a:buFontTx/>
              <a:buNone/>
            </a:pPr>
            <a:r>
              <a:rPr lang="en-US" dirty="0"/>
              <a:t>	Although agent Smith sells cars made by Ford and trucks made by GM, he does not sell Ford trucks or GM cars.  Thus, we need the combination of all three fields to know which combinations are valid and which are not.</a:t>
            </a:r>
          </a:p>
        </p:txBody>
      </p:sp>
      <p:graphicFrame>
        <p:nvGraphicFramePr>
          <p:cNvPr id="49220" name="Group 68"/>
          <p:cNvGraphicFramePr>
            <a:graphicFrameLocks noGrp="1"/>
          </p:cNvGraphicFramePr>
          <p:nvPr>
            <p:ph type="tbl" idx="4294967295"/>
          </p:nvPr>
        </p:nvGraphicFramePr>
        <p:xfrm>
          <a:off x="533400" y="3352800"/>
          <a:ext cx="8229600" cy="19812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858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3200" b="1" i="1" u="none" strike="noStrike" cap="none" normalizeH="0" baseline="0" dirty="0">
                          <a:ln>
                            <a:noFill/>
                          </a:ln>
                          <a:solidFill>
                            <a:schemeClr val="tx1"/>
                          </a:solidFill>
                          <a:effectLst/>
                          <a:latin typeface="Times New Roman" pitchFamily="18" charset="0"/>
                          <a:cs typeface="Times New Roman" pitchFamily="18" charset="0"/>
                        </a:rPr>
                        <a:t>Agent</a:t>
                      </a:r>
                      <a:endParaRPr kumimoji="0" lang="en-US" sz="32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3200" b="1" i="1" u="none" strike="noStrike" cap="none" normalizeH="0" baseline="0" dirty="0">
                          <a:ln>
                            <a:noFill/>
                          </a:ln>
                          <a:solidFill>
                            <a:schemeClr val="tx1"/>
                          </a:solidFill>
                          <a:effectLst/>
                          <a:latin typeface="Times New Roman" pitchFamily="18" charset="0"/>
                          <a:cs typeface="Times New Roman" pitchFamily="18" charset="0"/>
                        </a:rPr>
                        <a:t>Company</a:t>
                      </a:r>
                      <a:endParaRPr kumimoji="0" lang="en-US" sz="32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3200" b="1" i="1" u="none" strike="noStrike" cap="none" normalizeH="0" baseline="0" dirty="0">
                          <a:ln>
                            <a:noFill/>
                          </a:ln>
                          <a:solidFill>
                            <a:schemeClr val="tx1"/>
                          </a:solidFill>
                          <a:effectLst/>
                          <a:latin typeface="Times New Roman" pitchFamily="18" charset="0"/>
                          <a:cs typeface="Times New Roman" pitchFamily="18" charset="0"/>
                        </a:rPr>
                        <a:t>Product</a:t>
                      </a:r>
                      <a:endParaRPr kumimoji="0" lang="en-US" sz="32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58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GM</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truck</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3"/>
          <p:cNvSpPr>
            <a:spLocks noGrp="1"/>
          </p:cNvSpPr>
          <p:nvPr>
            <p:ph type="sldNum" sz="quarter" idx="12"/>
          </p:nvPr>
        </p:nvSpPr>
        <p:spPr/>
        <p:txBody>
          <a:bodyPr/>
          <a:lstStyle/>
          <a:p>
            <a:fld id="{4A7DE2A9-DB59-4700-80C1-5663C3E0D263}" type="slidenum">
              <a:rPr lang="en-US"/>
              <a:pPr/>
              <a:t>45</a:t>
            </a:fld>
            <a:endParaRPr lang="en-US" dirty="0"/>
          </a:p>
        </p:txBody>
      </p:sp>
      <p:graphicFrame>
        <p:nvGraphicFramePr>
          <p:cNvPr id="54401" name="Group 129"/>
          <p:cNvGraphicFramePr>
            <a:graphicFrameLocks noGrp="1"/>
          </p:cNvGraphicFramePr>
          <p:nvPr/>
        </p:nvGraphicFramePr>
        <p:xfrm>
          <a:off x="1066800" y="2895600"/>
          <a:ext cx="7086600" cy="3505200"/>
        </p:xfrm>
        <a:graphic>
          <a:graphicData uri="http://schemas.openxmlformats.org/drawingml/2006/table">
            <a:tbl>
              <a:tblPr/>
              <a:tblGrid>
                <a:gridCol w="23622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6096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3200" b="1" i="1" u="none" strike="noStrike" cap="none" normalizeH="0" baseline="0" dirty="0">
                          <a:ln>
                            <a:noFill/>
                          </a:ln>
                          <a:solidFill>
                            <a:schemeClr val="tx1"/>
                          </a:solidFill>
                          <a:effectLst/>
                          <a:latin typeface="Times New Roman" pitchFamily="18" charset="0"/>
                          <a:cs typeface="Times New Roman" pitchFamily="18" charset="0"/>
                        </a:rPr>
                        <a:t>Agent</a:t>
                      </a:r>
                      <a:endParaRPr kumimoji="0" lang="en-US" sz="32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3200" b="1" i="1" u="none" strike="noStrike" cap="none" normalizeH="0" baseline="0" dirty="0">
                          <a:ln>
                            <a:noFill/>
                          </a:ln>
                          <a:solidFill>
                            <a:schemeClr val="tx1"/>
                          </a:solidFill>
                          <a:effectLst/>
                          <a:latin typeface="Times New Roman" pitchFamily="18" charset="0"/>
                          <a:cs typeface="Times New Roman" pitchFamily="18" charset="0"/>
                        </a:rPr>
                        <a:t>Company</a:t>
                      </a:r>
                      <a:endParaRPr kumimoji="0" lang="en-US" sz="32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3200" b="1" i="1" u="none" strike="noStrike" cap="none" normalizeH="0" baseline="0" dirty="0">
                          <a:ln>
                            <a:noFill/>
                          </a:ln>
                          <a:solidFill>
                            <a:schemeClr val="tx1"/>
                          </a:solidFill>
                          <a:effectLst/>
                          <a:latin typeface="Times New Roman" pitchFamily="18" charset="0"/>
                          <a:cs typeface="Times New Roman" pitchFamily="18" charset="0"/>
                        </a:rPr>
                        <a:t>Product</a:t>
                      </a:r>
                      <a:endParaRPr kumimoji="0" lang="en-US" sz="32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truck</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GM</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GM</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truck</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Jones</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32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4398" name="Rectangle 126"/>
          <p:cNvSpPr>
            <a:spLocks noGrp="1" noChangeArrowheads="1"/>
          </p:cNvSpPr>
          <p:nvPr>
            <p:ph type="body" idx="4294967295"/>
          </p:nvPr>
        </p:nvSpPr>
        <p:spPr>
          <a:xfrm>
            <a:off x="533400" y="1066800"/>
            <a:ext cx="8229600" cy="1752600"/>
          </a:xfrm>
        </p:spPr>
        <p:txBody>
          <a:bodyPr/>
          <a:lstStyle/>
          <a:p>
            <a:pPr>
              <a:buFontTx/>
              <a:buNone/>
            </a:pPr>
            <a:r>
              <a:rPr lang="en-US" dirty="0"/>
              <a:t>	But suppose a certain rule is in effect – if an agent sells a certain product and he represents the company making that product, then he sells that product for that company.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3"/>
          <p:cNvSpPr>
            <a:spLocks noGrp="1"/>
          </p:cNvSpPr>
          <p:nvPr>
            <p:ph type="sldNum" sz="quarter" idx="12"/>
          </p:nvPr>
        </p:nvSpPr>
        <p:spPr/>
        <p:txBody>
          <a:bodyPr/>
          <a:lstStyle/>
          <a:p>
            <a:fld id="{5184D77D-26C3-4B29-8CF6-583CC8E92046}" type="slidenum">
              <a:rPr lang="en-US"/>
              <a:pPr/>
              <a:t>46</a:t>
            </a:fld>
            <a:endParaRPr lang="en-US" dirty="0"/>
          </a:p>
        </p:txBody>
      </p:sp>
      <p:sp>
        <p:nvSpPr>
          <p:cNvPr id="60588" name="Rectangle 172"/>
          <p:cNvSpPr>
            <a:spLocks noGrp="1" noChangeArrowheads="1"/>
          </p:cNvSpPr>
          <p:nvPr>
            <p:ph type="body" idx="4294967295"/>
          </p:nvPr>
        </p:nvSpPr>
        <p:spPr>
          <a:xfrm>
            <a:off x="533400" y="1143000"/>
            <a:ext cx="8229600" cy="1524000"/>
          </a:xfrm>
        </p:spPr>
        <p:txBody>
          <a:bodyPr/>
          <a:lstStyle/>
          <a:p>
            <a:pPr>
              <a:buFontTx/>
              <a:buNone/>
            </a:pPr>
            <a:r>
              <a:rPr lang="en-US" dirty="0"/>
              <a:t>In this case it turns out that we can reconstruct all the true facts from a normalization form consisting of three separate record types, each containing two fields.</a:t>
            </a:r>
          </a:p>
        </p:txBody>
      </p:sp>
      <p:graphicFrame>
        <p:nvGraphicFramePr>
          <p:cNvPr id="60590" name="Group 174"/>
          <p:cNvGraphicFramePr>
            <a:graphicFrameLocks noGrp="1"/>
          </p:cNvGraphicFramePr>
          <p:nvPr/>
        </p:nvGraphicFramePr>
        <p:xfrm>
          <a:off x="457200" y="2895600"/>
          <a:ext cx="3641725" cy="1584960"/>
        </p:xfrm>
        <a:graphic>
          <a:graphicData uri="http://schemas.openxmlformats.org/drawingml/2006/table">
            <a:tbl>
              <a:tblPr/>
              <a:tblGrid>
                <a:gridCol w="1804988">
                  <a:extLst>
                    <a:ext uri="{9D8B030D-6E8A-4147-A177-3AD203B41FA5}">
                      <a16:colId xmlns:a16="http://schemas.microsoft.com/office/drawing/2014/main" val="20000"/>
                    </a:ext>
                  </a:extLst>
                </a:gridCol>
                <a:gridCol w="1836737">
                  <a:extLst>
                    <a:ext uri="{9D8B030D-6E8A-4147-A177-3AD203B41FA5}">
                      <a16:colId xmlns:a16="http://schemas.microsoft.com/office/drawing/2014/main" val="20001"/>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Agent</a:t>
                      </a:r>
                      <a:endParaRPr kumimoji="0" lang="en-US" sz="20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Company</a:t>
                      </a:r>
                      <a:endParaRPr kumimoji="0" lang="en-US" sz="20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GM</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Jones</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0471" name="Rectangle 55"/>
          <p:cNvSpPr>
            <a:spLocks noChangeArrowheads="1"/>
          </p:cNvSpPr>
          <p:nvPr/>
        </p:nvSpPr>
        <p:spPr bwMode="auto">
          <a:xfrm>
            <a:off x="-1352550" y="2971800"/>
            <a:ext cx="9144000" cy="0"/>
          </a:xfrm>
          <a:prstGeom prst="rect">
            <a:avLst/>
          </a:prstGeom>
          <a:noFill/>
          <a:ln w="9525">
            <a:noFill/>
            <a:miter lim="800000"/>
            <a:headEnd/>
            <a:tailEnd/>
          </a:ln>
          <a:effectLst/>
        </p:spPr>
        <p:txBody>
          <a:bodyPr wrap="none" anchor="ctr">
            <a:spAutoFit/>
          </a:bodyPr>
          <a:lstStyle/>
          <a:p>
            <a:endParaRPr lang="en-US" dirty="0"/>
          </a:p>
        </p:txBody>
      </p:sp>
      <p:graphicFrame>
        <p:nvGraphicFramePr>
          <p:cNvPr id="60591" name="Group 175"/>
          <p:cNvGraphicFramePr>
            <a:graphicFrameLocks noGrp="1"/>
          </p:cNvGraphicFramePr>
          <p:nvPr/>
        </p:nvGraphicFramePr>
        <p:xfrm>
          <a:off x="4724400" y="2971800"/>
          <a:ext cx="3641725" cy="1584960"/>
        </p:xfrm>
        <a:graphic>
          <a:graphicData uri="http://schemas.openxmlformats.org/drawingml/2006/table">
            <a:tbl>
              <a:tblPr/>
              <a:tblGrid>
                <a:gridCol w="1804988">
                  <a:extLst>
                    <a:ext uri="{9D8B030D-6E8A-4147-A177-3AD203B41FA5}">
                      <a16:colId xmlns:a16="http://schemas.microsoft.com/office/drawing/2014/main" val="20000"/>
                    </a:ext>
                  </a:extLst>
                </a:gridCol>
                <a:gridCol w="1836737">
                  <a:extLst>
                    <a:ext uri="{9D8B030D-6E8A-4147-A177-3AD203B41FA5}">
                      <a16:colId xmlns:a16="http://schemas.microsoft.com/office/drawing/2014/main" val="20001"/>
                    </a:ext>
                  </a:extLst>
                </a:gridCol>
              </a:tblGrid>
              <a:tr h="2746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Agent</a:t>
                      </a:r>
                      <a:endParaRPr kumimoji="0" lang="en-US" sz="20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Product</a:t>
                      </a:r>
                      <a:endParaRPr kumimoji="0" lang="en-US" sz="20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Smith</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truck</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Jones</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0522" name="Rectangle 106"/>
          <p:cNvSpPr>
            <a:spLocks noChangeArrowheads="1"/>
          </p:cNvSpPr>
          <p:nvPr/>
        </p:nvSpPr>
        <p:spPr bwMode="auto">
          <a:xfrm>
            <a:off x="-1352550" y="4070350"/>
            <a:ext cx="9144000" cy="0"/>
          </a:xfrm>
          <a:prstGeom prst="rect">
            <a:avLst/>
          </a:prstGeom>
          <a:noFill/>
          <a:ln w="9525">
            <a:noFill/>
            <a:miter lim="800000"/>
            <a:headEnd/>
            <a:tailEnd/>
          </a:ln>
          <a:effectLst/>
        </p:spPr>
        <p:txBody>
          <a:bodyPr wrap="none" anchor="ctr">
            <a:spAutoFit/>
          </a:bodyPr>
          <a:lstStyle/>
          <a:p>
            <a:endParaRPr lang="en-US" dirty="0"/>
          </a:p>
        </p:txBody>
      </p:sp>
      <p:graphicFrame>
        <p:nvGraphicFramePr>
          <p:cNvPr id="60592" name="Group 176"/>
          <p:cNvGraphicFramePr>
            <a:graphicFrameLocks noGrp="1"/>
          </p:cNvGraphicFramePr>
          <p:nvPr/>
        </p:nvGraphicFramePr>
        <p:xfrm>
          <a:off x="2286000" y="4648200"/>
          <a:ext cx="3641725" cy="1981200"/>
        </p:xfrm>
        <a:graphic>
          <a:graphicData uri="http://schemas.openxmlformats.org/drawingml/2006/table">
            <a:tbl>
              <a:tblPr/>
              <a:tblGrid>
                <a:gridCol w="1804988">
                  <a:extLst>
                    <a:ext uri="{9D8B030D-6E8A-4147-A177-3AD203B41FA5}">
                      <a16:colId xmlns:a16="http://schemas.microsoft.com/office/drawing/2014/main" val="20000"/>
                    </a:ext>
                  </a:extLst>
                </a:gridCol>
                <a:gridCol w="1836737">
                  <a:extLst>
                    <a:ext uri="{9D8B030D-6E8A-4147-A177-3AD203B41FA5}">
                      <a16:colId xmlns:a16="http://schemas.microsoft.com/office/drawing/2014/main" val="20001"/>
                    </a:ext>
                  </a:extLst>
                </a:gridCol>
              </a:tblGrid>
              <a:tr h="2746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Company</a:t>
                      </a:r>
                      <a:endParaRPr kumimoji="0" lang="en-US" sz="20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1" i="1" u="none" strike="noStrike" cap="none" normalizeH="0" baseline="0" dirty="0">
                          <a:ln>
                            <a:noFill/>
                          </a:ln>
                          <a:solidFill>
                            <a:schemeClr val="tx1"/>
                          </a:solidFill>
                          <a:effectLst/>
                          <a:latin typeface="Times New Roman" pitchFamily="18" charset="0"/>
                          <a:cs typeface="Times New Roman" pitchFamily="18" charset="0"/>
                        </a:rPr>
                        <a:t>Product</a:t>
                      </a:r>
                      <a:endParaRPr kumimoji="0" lang="en-US" sz="2000" b="1" i="1"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Ford</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truck</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GM</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car</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GM</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truck</a:t>
                      </a: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BC75C92-3C37-48C3-8026-1451202FD225}" type="slidenum">
              <a:rPr lang="en-US"/>
              <a:pPr/>
              <a:t>47</a:t>
            </a:fld>
            <a:endParaRPr lang="en-US" dirty="0"/>
          </a:p>
        </p:txBody>
      </p:sp>
      <p:sp>
        <p:nvSpPr>
          <p:cNvPr id="62467" name="Rectangle 3"/>
          <p:cNvSpPr>
            <a:spLocks noGrp="1" noChangeArrowheads="1"/>
          </p:cNvSpPr>
          <p:nvPr>
            <p:ph type="body" idx="1"/>
          </p:nvPr>
        </p:nvSpPr>
        <p:spPr>
          <a:xfrm>
            <a:off x="457200" y="1219200"/>
            <a:ext cx="8229600" cy="4906963"/>
          </a:xfrm>
        </p:spPr>
        <p:txBody>
          <a:bodyPr/>
          <a:lstStyle/>
          <a:p>
            <a:r>
              <a:rPr lang="en-US" dirty="0"/>
              <a:t>These 3 record types are in 5NF.  The three-field record is not.</a:t>
            </a:r>
          </a:p>
          <a:p>
            <a:endParaRPr lang="en-US" dirty="0"/>
          </a:p>
          <a:p>
            <a:r>
              <a:rPr lang="en-US" dirty="0"/>
              <a:t>5NF does not differ from 4NF unless there exists a symmetric constraint such as the rule about agents, companies and products.  In the absence of such a constraint, the record type in 4NF is always in 5NF.</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CF46FFE-471E-4759-A66F-E016010660CA}" type="slidenum">
              <a:rPr lang="en-US"/>
              <a:pPr/>
              <a:t>48</a:t>
            </a:fld>
            <a:endParaRPr lang="en-US" dirty="0"/>
          </a:p>
        </p:txBody>
      </p:sp>
      <p:sp>
        <p:nvSpPr>
          <p:cNvPr id="63490" name="Rectangle 2"/>
          <p:cNvSpPr>
            <a:spLocks noGrp="1" noChangeArrowheads="1"/>
          </p:cNvSpPr>
          <p:nvPr>
            <p:ph type="title"/>
          </p:nvPr>
        </p:nvSpPr>
        <p:spPr/>
        <p:txBody>
          <a:bodyPr/>
          <a:lstStyle/>
          <a:p>
            <a:r>
              <a:rPr lang="en-US" dirty="0"/>
              <a:t>Domain Key Normal Form</a:t>
            </a:r>
          </a:p>
        </p:txBody>
      </p:sp>
      <p:sp>
        <p:nvSpPr>
          <p:cNvPr id="63491" name="Rectangle 3"/>
          <p:cNvSpPr>
            <a:spLocks noGrp="1" noChangeArrowheads="1"/>
          </p:cNvSpPr>
          <p:nvPr>
            <p:ph type="body" idx="1"/>
          </p:nvPr>
        </p:nvSpPr>
        <p:spPr/>
        <p:txBody>
          <a:bodyPr/>
          <a:lstStyle/>
          <a:p>
            <a:pPr>
              <a:lnSpc>
                <a:spcPct val="80000"/>
              </a:lnSpc>
            </a:pPr>
            <a:r>
              <a:rPr lang="en-US" sz="2800" b="1" dirty="0"/>
              <a:t>Constraint:</a:t>
            </a:r>
            <a:r>
              <a:rPr lang="en-US" sz="2800" dirty="0"/>
              <a:t> any rule governing static values of attributes that is precise enough so that we can ascertain whether the rule is true or not.</a:t>
            </a:r>
          </a:p>
          <a:p>
            <a:pPr>
              <a:lnSpc>
                <a:spcPct val="80000"/>
              </a:lnSpc>
            </a:pPr>
            <a:r>
              <a:rPr lang="en-US" sz="2800" b="1" dirty="0"/>
              <a:t>Key:</a:t>
            </a:r>
            <a:r>
              <a:rPr lang="en-US" sz="2800" dirty="0"/>
              <a:t> a unique identifier of a row.</a:t>
            </a:r>
          </a:p>
          <a:p>
            <a:pPr>
              <a:lnSpc>
                <a:spcPct val="80000"/>
              </a:lnSpc>
            </a:pPr>
            <a:r>
              <a:rPr lang="en-US" sz="2800" b="1" dirty="0"/>
              <a:t>Domain:</a:t>
            </a:r>
            <a:r>
              <a:rPr lang="en-US" sz="2800" dirty="0"/>
              <a:t> named set of possible values.</a:t>
            </a:r>
          </a:p>
          <a:p>
            <a:pPr>
              <a:lnSpc>
                <a:spcPct val="80000"/>
              </a:lnSpc>
            </a:pPr>
            <a:r>
              <a:rPr lang="en-US" sz="2800" b="1" dirty="0"/>
              <a:t>Definition of DK/NF:</a:t>
            </a:r>
            <a:r>
              <a:rPr lang="en-US" sz="2800" dirty="0"/>
              <a:t> A relation is in DK/NF if every constraint on the relation is a logical consequence of the definition of keys and domains. Informally, a relation is in DK/NF if enforcing key and domain restrictions causes all of the constraints to be met.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51CAE11-249C-4697-9DD3-727854C9B2A7}" type="slidenum">
              <a:rPr lang="en-US"/>
              <a:pPr/>
              <a:t>49</a:t>
            </a:fld>
            <a:endParaRPr lang="en-US" dirty="0"/>
          </a:p>
        </p:txBody>
      </p:sp>
      <p:sp>
        <p:nvSpPr>
          <p:cNvPr id="64514" name="Rectangle 2"/>
          <p:cNvSpPr>
            <a:spLocks noGrp="1" noChangeArrowheads="1"/>
          </p:cNvSpPr>
          <p:nvPr>
            <p:ph type="title"/>
          </p:nvPr>
        </p:nvSpPr>
        <p:spPr/>
        <p:txBody>
          <a:bodyPr/>
          <a:lstStyle/>
          <a:p>
            <a:r>
              <a:rPr lang="en-US" dirty="0"/>
              <a:t>DK/NF</a:t>
            </a:r>
          </a:p>
        </p:txBody>
      </p:sp>
      <p:sp>
        <p:nvSpPr>
          <p:cNvPr id="64515" name="Rectangle 3"/>
          <p:cNvSpPr>
            <a:spLocks noGrp="1" noChangeArrowheads="1"/>
          </p:cNvSpPr>
          <p:nvPr>
            <p:ph type="body" idx="1"/>
          </p:nvPr>
        </p:nvSpPr>
        <p:spPr/>
        <p:txBody>
          <a:bodyPr/>
          <a:lstStyle/>
          <a:p>
            <a:pPr>
              <a:buFontTx/>
              <a:buNone/>
            </a:pPr>
            <a:r>
              <a:rPr lang="en-US" dirty="0"/>
              <a:t>	If a relation is in DK/NF there will be no modification anomalies.</a:t>
            </a:r>
          </a:p>
          <a:p>
            <a:pPr>
              <a:buFontTx/>
              <a:buNone/>
            </a:pPr>
            <a:endParaRPr lang="en-US" dirty="0"/>
          </a:p>
          <a:p>
            <a:pPr>
              <a:buFontTx/>
              <a:buNone/>
            </a:pPr>
            <a:r>
              <a:rPr lang="en-US" dirty="0"/>
              <a:t>	DKNF is the ultimate application of normalization and is more a measurement of conceptual state, as opposed to a transformation process in itself</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Denormalizing</a:t>
            </a:r>
            <a:r>
              <a:rPr lang="en-US" dirty="0"/>
              <a:t> Relations</a:t>
            </a:r>
          </a:p>
        </p:txBody>
      </p:sp>
      <p:sp>
        <p:nvSpPr>
          <p:cNvPr id="3" name="Content Placeholder 2"/>
          <p:cNvSpPr>
            <a:spLocks noGrp="1"/>
          </p:cNvSpPr>
          <p:nvPr>
            <p:ph idx="1"/>
          </p:nvPr>
        </p:nvSpPr>
        <p:spPr/>
        <p:txBody>
          <a:bodyPr>
            <a:normAutofit lnSpcReduction="10000"/>
          </a:bodyPr>
          <a:lstStyle/>
          <a:p>
            <a:pPr lvl="0"/>
            <a:r>
              <a:rPr lang="en-US" sz="2800" dirty="0"/>
              <a:t>An overly-normalized database may have many small tables</a:t>
            </a:r>
          </a:p>
          <a:p>
            <a:pPr lvl="0"/>
            <a:r>
              <a:rPr lang="en-US" sz="2800" dirty="0"/>
              <a:t>To combine the information from many tables involves a lot of extra overhead – more disk i/o and processing</a:t>
            </a:r>
          </a:p>
          <a:p>
            <a:pPr lvl="0"/>
            <a:r>
              <a:rPr lang="en-US" sz="2800" dirty="0"/>
              <a:t>There may be circumstances where </a:t>
            </a:r>
            <a:r>
              <a:rPr lang="en-US" sz="2800" dirty="0" err="1"/>
              <a:t>denormalizing</a:t>
            </a:r>
            <a:r>
              <a:rPr lang="en-US" sz="2800" dirty="0"/>
              <a:t> the design is desirable</a:t>
            </a:r>
            <a:endParaRPr lang="en-US" sz="2400" dirty="0"/>
          </a:p>
          <a:p>
            <a:pPr lvl="1"/>
            <a:r>
              <a:rPr lang="en-US" dirty="0"/>
              <a:t>The decision to store postal code with </a:t>
            </a:r>
            <a:r>
              <a:rPr lang="en-US"/>
              <a:t>the address– </a:t>
            </a:r>
            <a:r>
              <a:rPr lang="en-US" dirty="0"/>
              <a:t>SIAST doesn’t split out the postal code, but a mail-order company may find that it is important to have accurate addresses over the decrease in performance.</a:t>
            </a:r>
          </a:p>
        </p:txBody>
      </p:sp>
      <p:sp>
        <p:nvSpPr>
          <p:cNvPr id="4" name="Slide Number Placeholder 3"/>
          <p:cNvSpPr>
            <a:spLocks noGrp="1"/>
          </p:cNvSpPr>
          <p:nvPr>
            <p:ph type="sldNum" sz="quarter" idx="12"/>
          </p:nvPr>
        </p:nvSpPr>
        <p:spPr/>
        <p:txBody>
          <a:bodyPr/>
          <a:lstStyle/>
          <a:p>
            <a:fld id="{555817BA-32BD-442C-96BA-2469E6603B0D}" type="slidenum">
              <a:rPr lang="en-US" smtClean="0"/>
              <a:pPr/>
              <a:t>50</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11069</TotalTime>
  <Words>2370</Words>
  <Application>Microsoft Office PowerPoint</Application>
  <PresentationFormat>On-screen Show (4:3)</PresentationFormat>
  <Paragraphs>448</Paragraphs>
  <Slides>50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Bookman Old Style</vt:lpstr>
      <vt:lpstr>Calibri</vt:lpstr>
      <vt:lpstr>Constantia</vt:lpstr>
      <vt:lpstr>Times New Roman</vt:lpstr>
      <vt:lpstr>Wingdings</vt:lpstr>
      <vt:lpstr>Wingdings 2</vt:lpstr>
      <vt:lpstr>Flow</vt:lpstr>
      <vt:lpstr>CDBM 280</vt:lpstr>
      <vt:lpstr>Normalization</vt:lpstr>
      <vt:lpstr>Characteristics of a relation</vt:lpstr>
      <vt:lpstr>Terms</vt:lpstr>
      <vt:lpstr>Functional Dependencies</vt:lpstr>
      <vt:lpstr>FD example</vt:lpstr>
      <vt:lpstr>Composite FDs</vt:lpstr>
      <vt:lpstr>Finding Functional Dependencies</vt:lpstr>
      <vt:lpstr>Functional Dependency Ex</vt:lpstr>
      <vt:lpstr>Modification Anomalies</vt:lpstr>
      <vt:lpstr>Deletion Anomaly</vt:lpstr>
      <vt:lpstr>Deletion Anomaly</vt:lpstr>
      <vt:lpstr>Insertion Anomaly</vt:lpstr>
      <vt:lpstr>Insert Anomaly</vt:lpstr>
      <vt:lpstr>Update Anomaly</vt:lpstr>
      <vt:lpstr>Update Anomaly</vt:lpstr>
      <vt:lpstr>Solve the problem with anomalies</vt:lpstr>
      <vt:lpstr>Essence of the normalization process</vt:lpstr>
      <vt:lpstr>Relationship of Normal Forms</vt:lpstr>
      <vt:lpstr>Normalization Categories</vt:lpstr>
      <vt:lpstr>Normal Forms</vt:lpstr>
      <vt:lpstr>1st Normal Form</vt:lpstr>
      <vt:lpstr>Unnormalized Table</vt:lpstr>
      <vt:lpstr>Relation</vt:lpstr>
      <vt:lpstr>2NF and 3NF</vt:lpstr>
      <vt:lpstr>2nd Normal Form</vt:lpstr>
      <vt:lpstr>2NF</vt:lpstr>
      <vt:lpstr>3rd Normal Form</vt:lpstr>
      <vt:lpstr>To place in 3NF</vt:lpstr>
      <vt:lpstr>3NF Violation</vt:lpstr>
      <vt:lpstr>Relations in 3NF</vt:lpstr>
      <vt:lpstr>Boyce-Codd Normal Form</vt:lpstr>
      <vt:lpstr>BCNF</vt:lpstr>
      <vt:lpstr>Violates BCNF</vt:lpstr>
      <vt:lpstr>Relation in BCNF</vt:lpstr>
      <vt:lpstr>BCNF</vt:lpstr>
      <vt:lpstr>4thNF and 5thNF</vt:lpstr>
      <vt:lpstr>4th Normal Form</vt:lpstr>
      <vt:lpstr>4NF Example</vt:lpstr>
      <vt:lpstr>How to detect MVDs</vt:lpstr>
      <vt:lpstr>Car relation in 4NF</vt:lpstr>
      <vt:lpstr>5th Normal Form</vt:lpstr>
      <vt:lpstr>5NF Example</vt:lpstr>
      <vt:lpstr>PowerPoint Presentation</vt:lpstr>
      <vt:lpstr>PowerPoint Presentation</vt:lpstr>
      <vt:lpstr>PowerPoint Presentation</vt:lpstr>
      <vt:lpstr>PowerPoint Presentation</vt:lpstr>
      <vt:lpstr>Domain Key Normal Form</vt:lpstr>
      <vt:lpstr>DK/NF</vt:lpstr>
      <vt:lpstr>Denormalizing Relations</vt:lpstr>
    </vt:vector>
  </TitlesOfParts>
  <Company>Computer Systems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CDBM 280</dc:title>
  <dc:creator>Brenda Suru</dc:creator>
  <cp:lastModifiedBy>Jerusal Cepha Fenson, Abitha</cp:lastModifiedBy>
  <cp:revision>278</cp:revision>
  <dcterms:created xsi:type="dcterms:W3CDTF">2005-08-24T15:04:34Z</dcterms:created>
  <dcterms:modified xsi:type="dcterms:W3CDTF">2025-09-15T14:32:14Z</dcterms:modified>
</cp:coreProperties>
</file>